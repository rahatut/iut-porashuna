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mbria Bold" charset="1" panose="02040803050406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1"/>
    </p:embeddedFont>
    <p:embeddedFont>
      <p:font typeface="Canva Sans" charset="1" panose="020B0503030501040103"/>
      <p:regular r:id="rId22"/>
    </p:embeddedFont>
    <p:embeddedFont>
      <p:font typeface="Cambria Italics" charset="1" panose="02040503050406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16784" y="1509941"/>
            <a:ext cx="6314294" cy="6314294"/>
            <a:chOff x="0" y="0"/>
            <a:chExt cx="8419059" cy="8419059"/>
          </a:xfrm>
        </p:grpSpPr>
        <p:sp>
          <p:nvSpPr>
            <p:cNvPr name="Freeform 3" id="3" descr="/home/claude/deck/icon_wifi.png"/>
            <p:cNvSpPr/>
            <p:nvPr/>
          </p:nvSpPr>
          <p:spPr>
            <a:xfrm flipH="false" flipV="false" rot="0">
              <a:off x="0" y="0"/>
              <a:ext cx="8419084" cy="8419084"/>
            </a:xfrm>
            <a:custGeom>
              <a:avLst/>
              <a:gdLst/>
              <a:ahLst/>
              <a:cxnLst/>
              <a:rect r="r" b="b" t="t" l="l"/>
              <a:pathLst>
                <a:path h="8419084" w="8419084">
                  <a:moveTo>
                    <a:pt x="0" y="0"/>
                  </a:moveTo>
                  <a:lnTo>
                    <a:pt x="8419084" y="0"/>
                  </a:lnTo>
                  <a:lnTo>
                    <a:pt x="8419084" y="8419084"/>
                  </a:lnTo>
                  <a:lnTo>
                    <a:pt x="0" y="841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2127647"/>
            <a:ext cx="14413059" cy="549069"/>
            <a:chOff x="0" y="0"/>
            <a:chExt cx="19217411" cy="732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17413" cy="732092"/>
            </a:xfrm>
            <a:custGeom>
              <a:avLst/>
              <a:gdLst/>
              <a:ahLst/>
              <a:cxnLst/>
              <a:rect r="r" b="b" t="t" l="l"/>
              <a:pathLst>
                <a:path h="732092" w="19217413">
                  <a:moveTo>
                    <a:pt x="0" y="0"/>
                  </a:moveTo>
                  <a:lnTo>
                    <a:pt x="19217413" y="0"/>
                  </a:lnTo>
                  <a:lnTo>
                    <a:pt x="1921741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1481" r="0" b="-4614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217411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342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CSE 4616  •  WIRELESS NETWORKS LAB  •  ASSIGNMENT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2312" y="2783500"/>
            <a:ext cx="14641982" cy="259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5103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Impact of Traffic Load and Network Parameters on</a:t>
            </a:r>
          </a:p>
          <a:p>
            <a:pPr algn="l">
              <a:lnSpc>
                <a:spcPts val="6859"/>
              </a:lnSpc>
            </a:pPr>
            <a:r>
              <a:rPr lang="en-US" sz="5103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IEEE 802.11 Wireless LAN Performance</a:t>
            </a:r>
          </a:p>
        </p:txBody>
      </p:sp>
      <p:sp>
        <p:nvSpPr>
          <p:cNvPr name="AutoShape 8" id="8"/>
          <p:cNvSpPr/>
          <p:nvPr/>
        </p:nvSpPr>
        <p:spPr>
          <a:xfrm rot="29580">
            <a:off x="969178" y="5687063"/>
            <a:ext cx="4430849" cy="0"/>
          </a:xfrm>
          <a:prstGeom prst="line">
            <a:avLst/>
          </a:prstGeom>
          <a:ln cap="rnd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60872" y="6039755"/>
            <a:ext cx="8236039" cy="557242"/>
            <a:chOff x="0" y="0"/>
            <a:chExt cx="10981385" cy="7429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81379" cy="742990"/>
            </a:xfrm>
            <a:custGeom>
              <a:avLst/>
              <a:gdLst/>
              <a:ahLst/>
              <a:cxnLst/>
              <a:rect r="r" b="b" t="t" l="l"/>
              <a:pathLst>
                <a:path h="742990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742990"/>
                  </a:lnTo>
                  <a:lnTo>
                    <a:pt x="0" y="742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722" r="0" b="-2372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81385" cy="790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62"/>
                </a:lnSpc>
              </a:pPr>
              <a:r>
                <a:rPr lang="en-US" sz="280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Rahatut Tahrim Mounota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872" y="6616284"/>
            <a:ext cx="8236039" cy="480435"/>
            <a:chOff x="0" y="0"/>
            <a:chExt cx="10981385" cy="6405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1379" cy="640586"/>
            </a:xfrm>
            <a:custGeom>
              <a:avLst/>
              <a:gdLst/>
              <a:ahLst/>
              <a:cxnLst/>
              <a:rect r="r" b="b" t="t" l="l"/>
              <a:pathLst>
                <a:path h="640586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027" r="0" b="-2840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81385" cy="67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ID: 220041122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9265539"/>
            <a:ext cx="14824862" cy="480435"/>
            <a:chOff x="0" y="0"/>
            <a:chExt cx="19766483" cy="6405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483" cy="640586"/>
            </a:xfrm>
            <a:custGeom>
              <a:avLst/>
              <a:gdLst/>
              <a:ahLst/>
              <a:cxnLst/>
              <a:rect r="r" b="b" t="t" l="l"/>
              <a:pathLst>
                <a:path h="640586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1248" r="0" b="-5512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766483" cy="67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OMNeT++ with INET Framework v4.5.4   |   seed-set = 220041122   |   sim-time-limit = 40 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target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Objectives &amp; Evaluation Framework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1717015"/>
            <a:ext cx="16700992" cy="87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Objective: 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IEEE 802.11 WLAN performance under varying host density, contention, channel interference, and medium architecture, using discrete-event simulation in OMNeT++/INET.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6808" y="3078985"/>
            <a:ext cx="16902932" cy="1460373"/>
            <a:chOff x="0" y="0"/>
            <a:chExt cx="22537242" cy="19471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3716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537167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22370289" y="0"/>
                  </a:lnTo>
                  <a:cubicBezTo>
                    <a:pt x="22462491" y="0"/>
                    <a:pt x="22537167" y="74676"/>
                    <a:pt x="22537167" y="166878"/>
                  </a:cubicBezTo>
                  <a:lnTo>
                    <a:pt x="22537167" y="1780286"/>
                  </a:lnTo>
                  <a:cubicBezTo>
                    <a:pt x="22537167" y="1872488"/>
                    <a:pt x="22462491" y="1947164"/>
                    <a:pt x="22370289" y="1947164"/>
                  </a:cubicBezTo>
                  <a:lnTo>
                    <a:pt x="166878" y="1947164"/>
                  </a:lnTo>
                  <a:cubicBezTo>
                    <a:pt x="74676" y="1947164"/>
                    <a:pt x="0" y="1872488"/>
                    <a:pt x="0" y="178028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15775" y="3383642"/>
            <a:ext cx="851059" cy="851059"/>
            <a:chOff x="0" y="0"/>
            <a:chExt cx="1134745" cy="11347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6417" y="3494275"/>
            <a:ext cx="629783" cy="629783"/>
            <a:chOff x="0" y="0"/>
            <a:chExt cx="839711" cy="839711"/>
          </a:xfrm>
        </p:grpSpPr>
        <p:sp>
          <p:nvSpPr>
            <p:cNvPr name="Freeform 15" id="15" descr="/home/claude/deck/icon_layers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264912" y="3266961"/>
            <a:ext cx="14962127" cy="521616"/>
            <a:chOff x="0" y="0"/>
            <a:chExt cx="19949503" cy="6954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49506" cy="695485"/>
            </a:xfrm>
            <a:custGeom>
              <a:avLst/>
              <a:gdLst/>
              <a:ahLst/>
              <a:cxnLst/>
              <a:rect r="r" b="b" t="t" l="l"/>
              <a:pathLst>
                <a:path h="695485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8914" r="0" b="-50891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949503" cy="752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1 — MAC-Layer Saturation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64912" y="3802304"/>
            <a:ext cx="14962127" cy="631429"/>
            <a:chOff x="0" y="0"/>
            <a:chExt cx="19949503" cy="8419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49506" cy="841903"/>
            </a:xfrm>
            <a:custGeom>
              <a:avLst/>
              <a:gdLst/>
              <a:ahLst/>
              <a:cxnLst/>
              <a:rect r="r" b="b" t="t" l="l"/>
              <a:pathLst>
                <a:path h="841903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711" r="0" b="-41171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9949503" cy="89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saturation driven by CSMA/CA exponential-backoff retransmissions as host density rises.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6808" y="4822279"/>
            <a:ext cx="16902932" cy="1460373"/>
            <a:chOff x="0" y="0"/>
            <a:chExt cx="22537242" cy="19471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53716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537167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22370289" y="0"/>
                  </a:lnTo>
                  <a:cubicBezTo>
                    <a:pt x="22462491" y="0"/>
                    <a:pt x="22537167" y="74676"/>
                    <a:pt x="22537167" y="166878"/>
                  </a:cubicBezTo>
                  <a:lnTo>
                    <a:pt x="22537167" y="1780286"/>
                  </a:lnTo>
                  <a:cubicBezTo>
                    <a:pt x="22537167" y="1872488"/>
                    <a:pt x="22462491" y="1947164"/>
                    <a:pt x="22370289" y="1947164"/>
                  </a:cubicBezTo>
                  <a:lnTo>
                    <a:pt x="166878" y="1947164"/>
                  </a:lnTo>
                  <a:cubicBezTo>
                    <a:pt x="74676" y="1947164"/>
                    <a:pt x="0" y="1872488"/>
                    <a:pt x="0" y="178028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15775" y="5126936"/>
            <a:ext cx="851059" cy="851059"/>
            <a:chOff x="0" y="0"/>
            <a:chExt cx="1134745" cy="11347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6417" y="5237569"/>
            <a:ext cx="629783" cy="629783"/>
            <a:chOff x="0" y="0"/>
            <a:chExt cx="839711" cy="839711"/>
          </a:xfrm>
        </p:grpSpPr>
        <p:sp>
          <p:nvSpPr>
            <p:cNvPr name="Freeform 27" id="27" descr="/home/claude/deck/icon_activity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264912" y="5010255"/>
            <a:ext cx="14962127" cy="521616"/>
            <a:chOff x="0" y="0"/>
            <a:chExt cx="19949503" cy="6954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49506" cy="695485"/>
            </a:xfrm>
            <a:custGeom>
              <a:avLst/>
              <a:gdLst/>
              <a:ahLst/>
              <a:cxnLst/>
              <a:rect r="r" b="b" t="t" l="l"/>
              <a:pathLst>
                <a:path h="695485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8914" r="0" b="-50891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9949503" cy="752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2 — Channel Interference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64912" y="5545598"/>
            <a:ext cx="14962127" cy="631429"/>
            <a:chOff x="0" y="0"/>
            <a:chExt cx="19949503" cy="8419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949506" cy="841903"/>
            </a:xfrm>
            <a:custGeom>
              <a:avLst/>
              <a:gdLst/>
              <a:ahLst/>
              <a:cxnLst/>
              <a:rect r="r" b="b" t="t" l="l"/>
              <a:pathLst>
                <a:path h="841903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711" r="0" b="-41171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9949503" cy="89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Physical-layer link degradation under variable background noise (SNIR vs. BER).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6808" y="6565573"/>
            <a:ext cx="16902932" cy="1460373"/>
            <a:chOff x="0" y="0"/>
            <a:chExt cx="22537242" cy="19471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53716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537167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22370289" y="0"/>
                  </a:lnTo>
                  <a:cubicBezTo>
                    <a:pt x="22462491" y="0"/>
                    <a:pt x="22537167" y="74676"/>
                    <a:pt x="22537167" y="166878"/>
                  </a:cubicBezTo>
                  <a:lnTo>
                    <a:pt x="22537167" y="1780286"/>
                  </a:lnTo>
                  <a:cubicBezTo>
                    <a:pt x="22537167" y="1872488"/>
                    <a:pt x="22462491" y="1947164"/>
                    <a:pt x="22370289" y="1947164"/>
                  </a:cubicBezTo>
                  <a:lnTo>
                    <a:pt x="166878" y="1947164"/>
                  </a:lnTo>
                  <a:cubicBezTo>
                    <a:pt x="74676" y="1947164"/>
                    <a:pt x="0" y="1872488"/>
                    <a:pt x="0" y="178028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15775" y="6870230"/>
            <a:ext cx="851059" cy="851059"/>
            <a:chOff x="0" y="0"/>
            <a:chExt cx="1134745" cy="1134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6417" y="6980863"/>
            <a:ext cx="629783" cy="629783"/>
            <a:chOff x="0" y="0"/>
            <a:chExt cx="839711" cy="839711"/>
          </a:xfrm>
        </p:grpSpPr>
        <p:sp>
          <p:nvSpPr>
            <p:cNvPr name="Freeform 39" id="39" descr="/home/claude/deck/icon_compare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264912" y="6753549"/>
            <a:ext cx="14962127" cy="521616"/>
            <a:chOff x="0" y="0"/>
            <a:chExt cx="19949503" cy="6954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949506" cy="695485"/>
            </a:xfrm>
            <a:custGeom>
              <a:avLst/>
              <a:gdLst/>
              <a:ahLst/>
              <a:cxnLst/>
              <a:rect r="r" b="b" t="t" l="l"/>
              <a:pathLst>
                <a:path h="695485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8914" r="0" b="-50891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9949503" cy="752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3 — Wired vs. Wireless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264912" y="7288892"/>
            <a:ext cx="14962127" cy="631429"/>
            <a:chOff x="0" y="0"/>
            <a:chExt cx="19949503" cy="8419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949506" cy="841903"/>
            </a:xfrm>
            <a:custGeom>
              <a:avLst/>
              <a:gdLst/>
              <a:ahLst/>
              <a:cxnLst/>
              <a:rect r="r" b="b" t="t" l="l"/>
              <a:pathLst>
                <a:path h="841903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711" r="0" b="-4117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9949503" cy="89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Comparative benchmarking of wired Ethernet and wireless 802.11 under identical saturation load.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6333" y="8400755"/>
            <a:ext cx="5490686" cy="417854"/>
            <a:chOff x="0" y="0"/>
            <a:chExt cx="7320915" cy="5571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20920" cy="557135"/>
            </a:xfrm>
            <a:custGeom>
              <a:avLst/>
              <a:gdLst/>
              <a:ahLst/>
              <a:cxnLst/>
              <a:rect r="r" b="b" t="t" l="l"/>
              <a:pathLst>
                <a:path h="557135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57135"/>
                  </a:lnTo>
                  <a:lnTo>
                    <a:pt x="0" y="557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6762" r="0" b="-2053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7320915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86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EVALUATED METRICS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86333" y="8894921"/>
            <a:ext cx="988324" cy="494167"/>
            <a:chOff x="0" y="0"/>
            <a:chExt cx="1317765" cy="65888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17752" cy="658876"/>
            </a:xfrm>
            <a:custGeom>
              <a:avLst/>
              <a:gdLst/>
              <a:ahLst/>
              <a:cxnLst/>
              <a:rect r="r" b="b" t="t" l="l"/>
              <a:pathLst>
                <a:path h="658876" w="1317752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988314" y="0"/>
                  </a:lnTo>
                  <a:cubicBezTo>
                    <a:pt x="1170305" y="0"/>
                    <a:pt x="1317752" y="147447"/>
                    <a:pt x="1317752" y="329438"/>
                  </a:cubicBezTo>
                  <a:cubicBezTo>
                    <a:pt x="1317752" y="511429"/>
                    <a:pt x="1170305" y="658876"/>
                    <a:pt x="988314" y="658876"/>
                  </a:cubicBezTo>
                  <a:lnTo>
                    <a:pt x="329438" y="658876"/>
                  </a:ln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86333" y="8894921"/>
            <a:ext cx="988324" cy="494162"/>
            <a:chOff x="0" y="0"/>
            <a:chExt cx="1317765" cy="65888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17765" cy="658877"/>
            </a:xfrm>
            <a:custGeom>
              <a:avLst/>
              <a:gdLst/>
              <a:ahLst/>
              <a:cxnLst/>
              <a:rect r="r" b="b" t="t" l="l"/>
              <a:pathLst>
                <a:path h="658877" w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2" t="0" r="-14152" b="-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317765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21745" y="8894921"/>
            <a:ext cx="1949196" cy="494167"/>
            <a:chOff x="0" y="0"/>
            <a:chExt cx="2598928" cy="6588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98928" cy="658876"/>
            </a:xfrm>
            <a:custGeom>
              <a:avLst/>
              <a:gdLst/>
              <a:ahLst/>
              <a:cxnLst/>
              <a:rect r="r" b="b" t="t" l="l"/>
              <a:pathLst>
                <a:path h="658876" w="2598928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2269490" y="0"/>
                  </a:lnTo>
                  <a:cubicBezTo>
                    <a:pt x="2451481" y="0"/>
                    <a:pt x="2598928" y="147447"/>
                    <a:pt x="2598928" y="329438"/>
                  </a:cubicBezTo>
                  <a:cubicBezTo>
                    <a:pt x="2598928" y="511429"/>
                    <a:pt x="2451481" y="658876"/>
                    <a:pt x="2269490" y="658876"/>
                  </a:cubicBezTo>
                  <a:lnTo>
                    <a:pt x="329438" y="658876"/>
                  </a:ln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921745" y="8894921"/>
            <a:ext cx="1949196" cy="494162"/>
            <a:chOff x="0" y="0"/>
            <a:chExt cx="2598928" cy="6588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98926" cy="658877"/>
            </a:xfrm>
            <a:custGeom>
              <a:avLst/>
              <a:gdLst/>
              <a:ahLst/>
              <a:cxnLst/>
              <a:rect r="r" b="b" t="t" l="l"/>
              <a:pathLst>
                <a:path h="658877" w="2598926">
                  <a:moveTo>
                    <a:pt x="0" y="0"/>
                  </a:moveTo>
                  <a:lnTo>
                    <a:pt x="2598926" y="0"/>
                  </a:lnTo>
                  <a:lnTo>
                    <a:pt x="2598926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57" r="0" b="-2685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598928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Throughput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118019" y="8894921"/>
            <a:ext cx="1262863" cy="494167"/>
            <a:chOff x="0" y="0"/>
            <a:chExt cx="1683817" cy="65888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83766" cy="658876"/>
            </a:xfrm>
            <a:custGeom>
              <a:avLst/>
              <a:gdLst/>
              <a:ahLst/>
              <a:cxnLst/>
              <a:rect r="r" b="b" t="t" l="l"/>
              <a:pathLst>
                <a:path h="658876" w="1683766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1354328" y="0"/>
                  </a:lnTo>
                  <a:cubicBezTo>
                    <a:pt x="1536319" y="0"/>
                    <a:pt x="1683766" y="147447"/>
                    <a:pt x="1683766" y="329438"/>
                  </a:cubicBezTo>
                  <a:cubicBezTo>
                    <a:pt x="1683766" y="511429"/>
                    <a:pt x="1536319" y="658876"/>
                    <a:pt x="1354328" y="658876"/>
                  </a:cubicBezTo>
                  <a:lnTo>
                    <a:pt x="329438" y="658876"/>
                  </a:ln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118019" y="8894921"/>
            <a:ext cx="1262863" cy="494162"/>
            <a:chOff x="0" y="0"/>
            <a:chExt cx="1683817" cy="6588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83812" cy="658877"/>
            </a:xfrm>
            <a:custGeom>
              <a:avLst/>
              <a:gdLst/>
              <a:ahLst/>
              <a:cxnLst/>
              <a:rect r="r" b="b" t="t" l="l"/>
              <a:pathLst>
                <a:path h="658877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" t="0" r="-206" b="-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683817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CWmin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627961" y="8894921"/>
            <a:ext cx="2772794" cy="494167"/>
            <a:chOff x="0" y="0"/>
            <a:chExt cx="3697059" cy="6588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97097" cy="658876"/>
            </a:xfrm>
            <a:custGeom>
              <a:avLst/>
              <a:gdLst/>
              <a:ahLst/>
              <a:cxnLst/>
              <a:rect r="r" b="b" t="t" l="l"/>
              <a:pathLst>
                <a:path h="658876" w="3697097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3367659" y="0"/>
                  </a:lnTo>
                  <a:cubicBezTo>
                    <a:pt x="3549650" y="0"/>
                    <a:pt x="3697097" y="147447"/>
                    <a:pt x="3697097" y="329438"/>
                  </a:cubicBezTo>
                  <a:cubicBezTo>
                    <a:pt x="3697097" y="511429"/>
                    <a:pt x="3549650" y="658876"/>
                    <a:pt x="3367659" y="658876"/>
                  </a:cubicBezTo>
                  <a:lnTo>
                    <a:pt x="329438" y="658876"/>
                  </a:ln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627961" y="8894921"/>
            <a:ext cx="2772794" cy="494162"/>
            <a:chOff x="0" y="0"/>
            <a:chExt cx="3697059" cy="65888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97064" cy="658877"/>
            </a:xfrm>
            <a:custGeom>
              <a:avLst/>
              <a:gdLst/>
              <a:ahLst/>
              <a:cxnLst/>
              <a:rect r="r" b="b" t="t" l="l"/>
              <a:pathLst>
                <a:path h="658877" w="3697064">
                  <a:moveTo>
                    <a:pt x="0" y="0"/>
                  </a:moveTo>
                  <a:lnTo>
                    <a:pt x="3697064" y="0"/>
                  </a:lnTo>
                  <a:lnTo>
                    <a:pt x="369706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332" r="0" b="-5933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697059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Delay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647833" y="8894921"/>
            <a:ext cx="988324" cy="494167"/>
            <a:chOff x="0" y="0"/>
            <a:chExt cx="1317765" cy="65888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17752" cy="658876"/>
            </a:xfrm>
            <a:custGeom>
              <a:avLst/>
              <a:gdLst/>
              <a:ahLst/>
              <a:cxnLst/>
              <a:rect r="r" b="b" t="t" l="l"/>
              <a:pathLst>
                <a:path h="658876" w="1317752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988314" y="0"/>
                  </a:lnTo>
                  <a:cubicBezTo>
                    <a:pt x="1170305" y="0"/>
                    <a:pt x="1317752" y="147447"/>
                    <a:pt x="1317752" y="329438"/>
                  </a:cubicBezTo>
                  <a:cubicBezTo>
                    <a:pt x="1317752" y="511429"/>
                    <a:pt x="1170305" y="658876"/>
                    <a:pt x="988314" y="658876"/>
                  </a:cubicBezTo>
                  <a:lnTo>
                    <a:pt x="329438" y="658876"/>
                  </a:lnTo>
                  <a:cubicBezTo>
                    <a:pt x="147447" y="658876"/>
                    <a:pt x="0" y="511429"/>
                    <a:pt x="0" y="32943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647833" y="8894921"/>
            <a:ext cx="988324" cy="494162"/>
            <a:chOff x="0" y="0"/>
            <a:chExt cx="1317765" cy="65888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17765" cy="658877"/>
            </a:xfrm>
            <a:custGeom>
              <a:avLst/>
              <a:gdLst/>
              <a:ahLst/>
              <a:cxnLst/>
              <a:rect r="r" b="b" t="t" l="l"/>
              <a:pathLst>
                <a:path h="658877" w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2" t="0" r="-14152" b="-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317765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B2545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share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Network Architecture &amp; Simulation Topology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4479" y="2429627"/>
            <a:ext cx="123539" cy="123539"/>
            <a:chOff x="0" y="0"/>
            <a:chExt cx="164719" cy="1647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7646" y="2229888"/>
            <a:ext cx="7000627" cy="125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Wireless Segment: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N stationary hosts in a 400 m × 400 m grid; RadioMedium background noise floor of –10 dBm; Ieee80211YansErrorModel.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4479" y="3829755"/>
            <a:ext cx="123539" cy="123539"/>
            <a:chOff x="0" y="0"/>
            <a:chExt cx="164719" cy="164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27646" y="3630016"/>
            <a:ext cx="7000627" cy="84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Access Point (ap):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Bridges 802.11 wireless frames directly onto the wired Ethernet segment.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4479" y="5229882"/>
            <a:ext cx="123539" cy="123539"/>
            <a:chOff x="0" y="0"/>
            <a:chExt cx="164719" cy="164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27646" y="5030143"/>
            <a:ext cx="7000627" cy="84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Wired Segment: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M WiredHost nodes connected via full-duplex 100 Mbps Ethernet (Eth100M).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4479" y="6630010"/>
            <a:ext cx="123539" cy="123539"/>
            <a:chOff x="0" y="0"/>
            <a:chExt cx="164719" cy="164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27646" y="6430270"/>
            <a:ext cx="7000627" cy="84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Traffic Destination: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Unidirectional UDP flow to wiredSinkNode, listening on UDP port 5000.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32406" y="1623766"/>
            <a:ext cx="9718834" cy="6484534"/>
            <a:chOff x="0" y="0"/>
            <a:chExt cx="12958445" cy="86460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58445" cy="8646120"/>
            </a:xfrm>
            <a:custGeom>
              <a:avLst/>
              <a:gdLst/>
              <a:ahLst/>
              <a:cxnLst/>
              <a:rect r="r" b="b" t="t" l="l"/>
              <a:pathLst>
                <a:path h="8646120" w="12958445">
                  <a:moveTo>
                    <a:pt x="0" y="190085"/>
                  </a:moveTo>
                  <a:cubicBezTo>
                    <a:pt x="0" y="85052"/>
                    <a:pt x="87303" y="0"/>
                    <a:pt x="195115" y="0"/>
                  </a:cubicBezTo>
                  <a:lnTo>
                    <a:pt x="12763329" y="0"/>
                  </a:lnTo>
                  <a:cubicBezTo>
                    <a:pt x="12871007" y="0"/>
                    <a:pt x="12958445" y="85052"/>
                    <a:pt x="12958445" y="190085"/>
                  </a:cubicBezTo>
                  <a:lnTo>
                    <a:pt x="12958445" y="8456038"/>
                  </a:lnTo>
                  <a:cubicBezTo>
                    <a:pt x="12958445" y="8560940"/>
                    <a:pt x="12871142" y="8646120"/>
                    <a:pt x="12763329" y="8646120"/>
                  </a:cubicBezTo>
                  <a:lnTo>
                    <a:pt x="195115" y="8646120"/>
                  </a:lnTo>
                  <a:cubicBezTo>
                    <a:pt x="87303" y="8645992"/>
                    <a:pt x="0" y="8560940"/>
                    <a:pt x="0" y="845603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791966" y="1884979"/>
            <a:ext cx="9073363" cy="441834"/>
            <a:chOff x="0" y="0"/>
            <a:chExt cx="12097817" cy="5891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97822" cy="589109"/>
            </a:xfrm>
            <a:custGeom>
              <a:avLst/>
              <a:gdLst/>
              <a:ahLst/>
              <a:cxnLst/>
              <a:rect r="r" b="b" t="t" l="l"/>
              <a:pathLst>
                <a:path h="589109" w="12097822">
                  <a:moveTo>
                    <a:pt x="0" y="0"/>
                  </a:moveTo>
                  <a:lnTo>
                    <a:pt x="12097822" y="0"/>
                  </a:lnTo>
                  <a:lnTo>
                    <a:pt x="12097822" y="589109"/>
                  </a:lnTo>
                  <a:lnTo>
                    <a:pt x="0" y="5891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692" r="6959" b="-3188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097817" cy="636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220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TOPOLOGY — WiredAndWirelessHostsWithAP.ned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53735" y="2951245"/>
            <a:ext cx="1949196" cy="988324"/>
            <a:chOff x="0" y="0"/>
            <a:chExt cx="2598928" cy="13177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8928" cy="1317752"/>
            </a:xfrm>
            <a:custGeom>
              <a:avLst/>
              <a:gdLst/>
              <a:ahLst/>
              <a:cxnLst/>
              <a:rect r="r" b="b" t="t" l="l"/>
              <a:pathLst>
                <a:path h="1317752" w="2598928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470785" y="0"/>
                  </a:lnTo>
                  <a:cubicBezTo>
                    <a:pt x="2541524" y="0"/>
                    <a:pt x="2598928" y="57404"/>
                    <a:pt x="2598928" y="128143"/>
                  </a:cubicBezTo>
                  <a:lnTo>
                    <a:pt x="2598928" y="1189609"/>
                  </a:lnTo>
                  <a:cubicBezTo>
                    <a:pt x="2598928" y="1260348"/>
                    <a:pt x="2541524" y="1317752"/>
                    <a:pt x="2470785" y="1317752"/>
                  </a:cubicBezTo>
                  <a:lnTo>
                    <a:pt x="128143" y="1317752"/>
                  </a:lnTo>
                  <a:cubicBezTo>
                    <a:pt x="57404" y="1317752"/>
                    <a:pt x="0" y="1260348"/>
                    <a:pt x="0" y="1189609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36098" y="3061059"/>
            <a:ext cx="1784471" cy="441833"/>
            <a:chOff x="0" y="0"/>
            <a:chExt cx="2379294" cy="589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9299" cy="589112"/>
            </a:xfrm>
            <a:custGeom>
              <a:avLst/>
              <a:gdLst/>
              <a:ahLst/>
              <a:cxnLst/>
              <a:rect r="r" b="b" t="t" l="l"/>
              <a:pathLst>
                <a:path h="58911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12"/>
                  </a:lnTo>
                  <a:lnTo>
                    <a:pt x="0" y="589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87" r="0" b="-284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WirelessHost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36098" y="3472863"/>
            <a:ext cx="1784471" cy="441833"/>
            <a:chOff x="0" y="0"/>
            <a:chExt cx="2379294" cy="589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79299" cy="589108"/>
            </a:xfrm>
            <a:custGeom>
              <a:avLst/>
              <a:gdLst/>
              <a:ahLst/>
              <a:cxnLst/>
              <a:rect r="r" b="b" t="t" l="l"/>
              <a:pathLst>
                <a:path h="589108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08"/>
                  </a:lnTo>
                  <a:lnTo>
                    <a:pt x="0" y="5891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94" r="0" b="-2529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i="true">
                  <a:solidFill>
                    <a:srgbClr val="D7E4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[0..N-1]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02931" y="2923794"/>
            <a:ext cx="384353" cy="411804"/>
            <a:chOff x="0" y="0"/>
            <a:chExt cx="512470" cy="549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464" cy="549069"/>
            </a:xfrm>
            <a:custGeom>
              <a:avLst/>
              <a:gdLst/>
              <a:ahLst/>
              <a:cxnLst/>
              <a:rect r="r" b="b" t="t" l="l"/>
              <a:pathLst>
                <a:path h="549069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468" t="0" r="-8746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1247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87284" y="2951245"/>
            <a:ext cx="1949196" cy="988324"/>
            <a:chOff x="0" y="0"/>
            <a:chExt cx="2598928" cy="13177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98928" cy="1317752"/>
            </a:xfrm>
            <a:custGeom>
              <a:avLst/>
              <a:gdLst/>
              <a:ahLst/>
              <a:cxnLst/>
              <a:rect r="r" b="b" t="t" l="l"/>
              <a:pathLst>
                <a:path h="1317752" w="2598928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470785" y="0"/>
                  </a:lnTo>
                  <a:cubicBezTo>
                    <a:pt x="2541524" y="0"/>
                    <a:pt x="2598928" y="57404"/>
                    <a:pt x="2598928" y="128143"/>
                  </a:cubicBezTo>
                  <a:lnTo>
                    <a:pt x="2598928" y="1189609"/>
                  </a:lnTo>
                  <a:cubicBezTo>
                    <a:pt x="2598928" y="1260348"/>
                    <a:pt x="2541524" y="1317752"/>
                    <a:pt x="2470785" y="1317752"/>
                  </a:cubicBezTo>
                  <a:lnTo>
                    <a:pt x="128143" y="1317752"/>
                  </a:lnTo>
                  <a:cubicBezTo>
                    <a:pt x="57404" y="1317752"/>
                    <a:pt x="0" y="1260348"/>
                    <a:pt x="0" y="1189609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69637" y="3061059"/>
            <a:ext cx="1784471" cy="441833"/>
            <a:chOff x="0" y="0"/>
            <a:chExt cx="2379294" cy="589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9299" cy="589112"/>
            </a:xfrm>
            <a:custGeom>
              <a:avLst/>
              <a:gdLst/>
              <a:ahLst/>
              <a:cxnLst/>
              <a:rect r="r" b="b" t="t" l="l"/>
              <a:pathLst>
                <a:path h="58911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12"/>
                  </a:lnTo>
                  <a:lnTo>
                    <a:pt x="0" y="589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87" r="0" b="-2840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AccessPoint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269637" y="3472863"/>
            <a:ext cx="1784471" cy="441833"/>
            <a:chOff x="0" y="0"/>
            <a:chExt cx="2379294" cy="5891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9299" cy="589108"/>
            </a:xfrm>
            <a:custGeom>
              <a:avLst/>
              <a:gdLst/>
              <a:ahLst/>
              <a:cxnLst/>
              <a:rect r="r" b="b" t="t" l="l"/>
              <a:pathLst>
                <a:path h="589108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08"/>
                  </a:lnTo>
                  <a:lnTo>
                    <a:pt x="0" y="5891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94" r="0" b="-2529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i="true">
                  <a:solidFill>
                    <a:srgbClr val="D7E4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802.11↔Eth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136470" y="2923794"/>
            <a:ext cx="384353" cy="411804"/>
            <a:chOff x="0" y="0"/>
            <a:chExt cx="512470" cy="549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464" cy="549069"/>
            </a:xfrm>
            <a:custGeom>
              <a:avLst/>
              <a:gdLst/>
              <a:ahLst/>
              <a:cxnLst/>
              <a:rect r="r" b="b" t="t" l="l"/>
              <a:pathLst>
                <a:path h="549069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468" t="0" r="-8746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1247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20823" y="2951245"/>
            <a:ext cx="1949196" cy="988324"/>
            <a:chOff x="0" y="0"/>
            <a:chExt cx="2598928" cy="13177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98928" cy="1317752"/>
            </a:xfrm>
            <a:custGeom>
              <a:avLst/>
              <a:gdLst/>
              <a:ahLst/>
              <a:cxnLst/>
              <a:rect r="r" b="b" t="t" l="l"/>
              <a:pathLst>
                <a:path h="1317752" w="2598928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470785" y="0"/>
                  </a:lnTo>
                  <a:cubicBezTo>
                    <a:pt x="2541524" y="0"/>
                    <a:pt x="2598928" y="57404"/>
                    <a:pt x="2598928" y="128143"/>
                  </a:cubicBezTo>
                  <a:lnTo>
                    <a:pt x="2598928" y="1189609"/>
                  </a:lnTo>
                  <a:cubicBezTo>
                    <a:pt x="2598928" y="1260348"/>
                    <a:pt x="2541524" y="1317752"/>
                    <a:pt x="2470785" y="1317752"/>
                  </a:cubicBezTo>
                  <a:lnTo>
                    <a:pt x="128143" y="1317752"/>
                  </a:lnTo>
                  <a:cubicBezTo>
                    <a:pt x="57404" y="1317752"/>
                    <a:pt x="0" y="1260348"/>
                    <a:pt x="0" y="1189609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603186" y="3061059"/>
            <a:ext cx="1784471" cy="441833"/>
            <a:chOff x="0" y="0"/>
            <a:chExt cx="2379294" cy="5891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9299" cy="589112"/>
            </a:xfrm>
            <a:custGeom>
              <a:avLst/>
              <a:gdLst/>
              <a:ahLst/>
              <a:cxnLst/>
              <a:rect r="r" b="b" t="t" l="l"/>
              <a:pathLst>
                <a:path h="58911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12"/>
                  </a:lnTo>
                  <a:lnTo>
                    <a:pt x="0" y="589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87" r="0" b="-284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603186" y="3472863"/>
            <a:ext cx="1784471" cy="441833"/>
            <a:chOff x="0" y="0"/>
            <a:chExt cx="2379294" cy="5891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79299" cy="589108"/>
            </a:xfrm>
            <a:custGeom>
              <a:avLst/>
              <a:gdLst/>
              <a:ahLst/>
              <a:cxnLst/>
              <a:rect r="r" b="b" t="t" l="l"/>
              <a:pathLst>
                <a:path h="589108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08"/>
                  </a:lnTo>
                  <a:lnTo>
                    <a:pt x="0" y="5891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94" r="0" b="-2529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i="true">
                  <a:solidFill>
                    <a:srgbClr val="D7E4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aggregation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470019" y="2923794"/>
            <a:ext cx="384353" cy="411804"/>
            <a:chOff x="0" y="0"/>
            <a:chExt cx="512470" cy="549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464" cy="549069"/>
            </a:xfrm>
            <a:custGeom>
              <a:avLst/>
              <a:gdLst/>
              <a:ahLst/>
              <a:cxnLst/>
              <a:rect r="r" b="b" t="t" l="l"/>
              <a:pathLst>
                <a:path h="549069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468" t="0" r="-8746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12470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854362" y="2951245"/>
            <a:ext cx="2086461" cy="988324"/>
            <a:chOff x="0" y="0"/>
            <a:chExt cx="2781948" cy="131776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81935" cy="1317752"/>
            </a:xfrm>
            <a:custGeom>
              <a:avLst/>
              <a:gdLst/>
              <a:ahLst/>
              <a:cxnLst/>
              <a:rect r="r" b="b" t="t" l="l"/>
              <a:pathLst>
                <a:path h="1317752" w="2781935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653792" y="0"/>
                  </a:lnTo>
                  <a:cubicBezTo>
                    <a:pt x="2724531" y="0"/>
                    <a:pt x="2781935" y="57404"/>
                    <a:pt x="2781935" y="128143"/>
                  </a:cubicBezTo>
                  <a:lnTo>
                    <a:pt x="2781935" y="1189609"/>
                  </a:lnTo>
                  <a:cubicBezTo>
                    <a:pt x="2781935" y="1260348"/>
                    <a:pt x="2724531" y="1317752"/>
                    <a:pt x="2653792" y="1317752"/>
                  </a:cubicBezTo>
                  <a:lnTo>
                    <a:pt x="128143" y="1317752"/>
                  </a:lnTo>
                  <a:cubicBezTo>
                    <a:pt x="57404" y="1317752"/>
                    <a:pt x="0" y="1260348"/>
                    <a:pt x="0" y="1189609"/>
                  </a:cubicBezTo>
                  <a:close/>
                </a:path>
              </a:pathLst>
            </a:custGeom>
            <a:solidFill>
              <a:srgbClr val="0E838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936725" y="3061059"/>
            <a:ext cx="1921745" cy="441833"/>
            <a:chOff x="0" y="0"/>
            <a:chExt cx="2562327" cy="5891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2322" cy="589112"/>
            </a:xfrm>
            <a:custGeom>
              <a:avLst/>
              <a:gdLst/>
              <a:ahLst/>
              <a:cxnLst/>
              <a:rect r="r" b="b" t="t" l="l"/>
              <a:pathLst>
                <a:path h="589112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89112"/>
                  </a:lnTo>
                  <a:lnTo>
                    <a:pt x="0" y="589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41" r="0" b="-3445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562327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wiredSinkNode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936725" y="3472863"/>
            <a:ext cx="1921745" cy="441833"/>
            <a:chOff x="0" y="0"/>
            <a:chExt cx="2562327" cy="5891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62322" cy="589108"/>
            </a:xfrm>
            <a:custGeom>
              <a:avLst/>
              <a:gdLst/>
              <a:ahLst/>
              <a:cxnLst/>
              <a:rect r="r" b="b" t="t" l="l"/>
              <a:pathLst>
                <a:path h="589108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89108"/>
                  </a:lnTo>
                  <a:lnTo>
                    <a:pt x="0" y="5891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148" r="0" b="-3135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562327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i="true">
                  <a:solidFill>
                    <a:srgbClr val="D7E4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UdpSink:5000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853735" y="4694539"/>
            <a:ext cx="1949196" cy="988324"/>
            <a:chOff x="0" y="0"/>
            <a:chExt cx="2598928" cy="131776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98928" cy="1317752"/>
            </a:xfrm>
            <a:custGeom>
              <a:avLst/>
              <a:gdLst/>
              <a:ahLst/>
              <a:cxnLst/>
              <a:rect r="r" b="b" t="t" l="l"/>
              <a:pathLst>
                <a:path h="1317752" w="2598928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470785" y="0"/>
                  </a:lnTo>
                  <a:cubicBezTo>
                    <a:pt x="2541524" y="0"/>
                    <a:pt x="2598928" y="57404"/>
                    <a:pt x="2598928" y="128143"/>
                  </a:cubicBezTo>
                  <a:lnTo>
                    <a:pt x="2598928" y="1189609"/>
                  </a:lnTo>
                  <a:cubicBezTo>
                    <a:pt x="2598928" y="1260348"/>
                    <a:pt x="2541524" y="1317752"/>
                    <a:pt x="2470785" y="1317752"/>
                  </a:cubicBezTo>
                  <a:lnTo>
                    <a:pt x="128143" y="1317752"/>
                  </a:lnTo>
                  <a:cubicBezTo>
                    <a:pt x="57404" y="1317752"/>
                    <a:pt x="0" y="1260348"/>
                    <a:pt x="0" y="1189609"/>
                  </a:cubicBezTo>
                  <a:close/>
                </a:path>
              </a:pathLst>
            </a:custGeom>
            <a:solidFill>
              <a:srgbClr val="5C7AA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936098" y="4804353"/>
            <a:ext cx="1784471" cy="441833"/>
            <a:chOff x="0" y="0"/>
            <a:chExt cx="2379294" cy="5891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79299" cy="589112"/>
            </a:xfrm>
            <a:custGeom>
              <a:avLst/>
              <a:gdLst/>
              <a:ahLst/>
              <a:cxnLst/>
              <a:rect r="r" b="b" t="t" l="l"/>
              <a:pathLst>
                <a:path h="589112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12"/>
                  </a:lnTo>
                  <a:lnTo>
                    <a:pt x="0" y="589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87" r="0" b="-2840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WiredHost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936098" y="5216157"/>
            <a:ext cx="1784471" cy="441833"/>
            <a:chOff x="0" y="0"/>
            <a:chExt cx="2379294" cy="5891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79299" cy="589108"/>
            </a:xfrm>
            <a:custGeom>
              <a:avLst/>
              <a:gdLst/>
              <a:ahLst/>
              <a:cxnLst/>
              <a:rect r="r" b="b" t="t" l="l"/>
              <a:pathLst>
                <a:path h="589108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589108"/>
                  </a:lnTo>
                  <a:lnTo>
                    <a:pt x="0" y="5891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94" r="0" b="-2529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237929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i="true">
                  <a:solidFill>
                    <a:srgbClr val="D7E4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[0..M-1]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flipV="true">
            <a:off x="9804503" y="3879216"/>
            <a:ext cx="19069" cy="815212"/>
          </a:xfrm>
          <a:prstGeom prst="line">
            <a:avLst/>
          </a:prstGeom>
          <a:ln cap="rnd" w="9525">
            <a:solidFill>
              <a:srgbClr val="5A718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0995108" y="4900441"/>
            <a:ext cx="2882608" cy="775208"/>
            <a:chOff x="0" y="0"/>
            <a:chExt cx="3843477" cy="10336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843483" cy="1033606"/>
            </a:xfrm>
            <a:custGeom>
              <a:avLst/>
              <a:gdLst/>
              <a:ahLst/>
              <a:cxnLst/>
              <a:rect r="r" b="b" t="t" l="l"/>
              <a:pathLst>
                <a:path h="1033606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1033606"/>
                  </a:lnTo>
                  <a:lnTo>
                    <a:pt x="0" y="1033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894" r="0" b="98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3843477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direct to Router (Eth100M)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76314" y="6492488"/>
            <a:ext cx="8304667" cy="1320754"/>
            <a:chOff x="0" y="0"/>
            <a:chExt cx="11072889" cy="176100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072891" cy="1761010"/>
            </a:xfrm>
            <a:custGeom>
              <a:avLst/>
              <a:gdLst/>
              <a:ahLst/>
              <a:cxnLst/>
              <a:rect r="r" b="b" t="t" l="l"/>
              <a:pathLst>
                <a:path h="1761010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1761010"/>
                  </a:lnTo>
                  <a:lnTo>
                    <a:pt x="0" y="17610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749" r="0" b="-6928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85725"/>
              <a:ext cx="11072889" cy="1846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 i="true">
                  <a:solidFill>
                    <a:srgbClr val="0B254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traffic converges on a single UDP sink, so wired and wireless segments are benchmarked under identical routing and traffic-generation conditions.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B2545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layers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Task 1 — MAC Contention &amp; Network Saturation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6333" y="1674657"/>
            <a:ext cx="16883872" cy="549069"/>
            <a:chOff x="0" y="0"/>
            <a:chExt cx="22511830" cy="7320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11827" cy="732092"/>
            </a:xfrm>
            <a:custGeom>
              <a:avLst/>
              <a:gdLst/>
              <a:ahLst/>
              <a:cxnLst/>
              <a:rect r="r" b="b" t="t" l="l"/>
              <a:pathLst>
                <a:path h="732092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511830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Offered Load:  </a:t>
              </a:r>
              <a:r>
                <a:rPr lang="en-US" sz="2400" i="true">
                  <a:solidFill>
                    <a:srgbClr val="132A3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Cumulative Load (bps) = N × Packet Size (bits) / Send Interval (s)   —   8 Mbps per host at a 0.001 s interval.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6333" y="2361000"/>
            <a:ext cx="5449510" cy="1811931"/>
            <a:chOff x="0" y="0"/>
            <a:chExt cx="7266013" cy="2415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66051" cy="2415921"/>
            </a:xfrm>
            <a:custGeom>
              <a:avLst/>
              <a:gdLst/>
              <a:ahLst/>
              <a:cxnLst/>
              <a:rect r="r" b="b" t="t" l="l"/>
              <a:pathLst>
                <a:path h="2415921" w="7266051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7119620" y="0"/>
                  </a:lnTo>
                  <a:cubicBezTo>
                    <a:pt x="7200519" y="0"/>
                    <a:pt x="7266051" y="65532"/>
                    <a:pt x="7266051" y="146431"/>
                  </a:cubicBezTo>
                  <a:lnTo>
                    <a:pt x="7266051" y="2269490"/>
                  </a:lnTo>
                  <a:cubicBezTo>
                    <a:pt x="7266051" y="2350389"/>
                    <a:pt x="7200519" y="2415921"/>
                    <a:pt x="7119620" y="2415921"/>
                  </a:cubicBezTo>
                  <a:lnTo>
                    <a:pt x="146431" y="2415921"/>
                  </a:lnTo>
                  <a:cubicBezTo>
                    <a:pt x="65532" y="2415921"/>
                    <a:pt x="0" y="2350389"/>
                    <a:pt x="0" y="2269490"/>
                  </a:cubicBezTo>
                  <a:close/>
                </a:path>
              </a:pathLst>
            </a:custGeom>
            <a:solidFill>
              <a:srgbClr val="EAF2F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05961" y="2487616"/>
            <a:ext cx="501025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Load  (N = 2, 16 Mbps)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5961" y="2916222"/>
            <a:ext cx="5010255" cy="10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Minimal contention.</a:t>
            </a:r>
          </a:p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PDR reaches 92.30%</a:t>
            </a:r>
          </a:p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Delay just 15.71 ms.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10382" y="2361000"/>
            <a:ext cx="5449510" cy="1811931"/>
            <a:chOff x="0" y="0"/>
            <a:chExt cx="7266013" cy="24159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66051" cy="2415921"/>
            </a:xfrm>
            <a:custGeom>
              <a:avLst/>
              <a:gdLst/>
              <a:ahLst/>
              <a:cxnLst/>
              <a:rect r="r" b="b" t="t" l="l"/>
              <a:pathLst>
                <a:path h="2415921" w="7266051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7119620" y="0"/>
                  </a:lnTo>
                  <a:cubicBezTo>
                    <a:pt x="7200519" y="0"/>
                    <a:pt x="7266051" y="65532"/>
                    <a:pt x="7266051" y="146431"/>
                  </a:cubicBezTo>
                  <a:lnTo>
                    <a:pt x="7266051" y="2269490"/>
                  </a:lnTo>
                  <a:cubicBezTo>
                    <a:pt x="7266051" y="2350389"/>
                    <a:pt x="7200519" y="2415921"/>
                    <a:pt x="7119620" y="2415921"/>
                  </a:cubicBezTo>
                  <a:lnTo>
                    <a:pt x="146431" y="2415921"/>
                  </a:lnTo>
                  <a:cubicBezTo>
                    <a:pt x="65532" y="2415921"/>
                    <a:pt x="0" y="2350389"/>
                    <a:pt x="0" y="2269490"/>
                  </a:cubicBezTo>
                  <a:close/>
                </a:path>
              </a:pathLst>
            </a:custGeom>
            <a:solidFill>
              <a:srgbClr val="EAF2F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30010" y="2487616"/>
            <a:ext cx="501025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Medium Load  (N = 4–8)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30010" y="2916222"/>
            <a:ext cx="5010255" cy="10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Demand nears physical limits.</a:t>
            </a:r>
          </a:p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Throughput peaks at N = 8</a:t>
            </a:r>
          </a:p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(31.50 Mbps) as PDR falls to 60.45%.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34421" y="2361000"/>
            <a:ext cx="5449510" cy="1811931"/>
            <a:chOff x="0" y="0"/>
            <a:chExt cx="7266013" cy="24159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66051" cy="2415921"/>
            </a:xfrm>
            <a:custGeom>
              <a:avLst/>
              <a:gdLst/>
              <a:ahLst/>
              <a:cxnLst/>
              <a:rect r="r" b="b" t="t" l="l"/>
              <a:pathLst>
                <a:path h="2415921" w="7266051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7119620" y="0"/>
                  </a:lnTo>
                  <a:cubicBezTo>
                    <a:pt x="7200519" y="0"/>
                    <a:pt x="7266051" y="65532"/>
                    <a:pt x="7266051" y="146431"/>
                  </a:cubicBezTo>
                  <a:lnTo>
                    <a:pt x="7266051" y="2269490"/>
                  </a:lnTo>
                  <a:cubicBezTo>
                    <a:pt x="7266051" y="2350389"/>
                    <a:pt x="7200519" y="2415921"/>
                    <a:pt x="7119620" y="2415921"/>
                  </a:cubicBezTo>
                  <a:lnTo>
                    <a:pt x="146431" y="2415921"/>
                  </a:lnTo>
                  <a:cubicBezTo>
                    <a:pt x="65532" y="2415921"/>
                    <a:pt x="0" y="2350389"/>
                    <a:pt x="0" y="2269490"/>
                  </a:cubicBezTo>
                  <a:close/>
                </a:path>
              </a:pathLst>
            </a:custGeom>
            <a:solidFill>
              <a:srgbClr val="FCE9E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354049" y="2487616"/>
            <a:ext cx="501025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B23A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Saturation Knee  (N ≥ 8)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54049" y="2916222"/>
            <a:ext cx="5010255" cy="10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Exponential backoff doubling.</a:t>
            </a:r>
          </a:p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CWmin: 15→31→63→960</a:t>
            </a:r>
          </a:p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PDR collapses to 18.00%.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6333" y="4474912"/>
            <a:ext cx="8167402" cy="4565342"/>
            <a:chOff x="0" y="0"/>
            <a:chExt cx="10889869" cy="6087123"/>
          </a:xfrm>
        </p:grpSpPr>
        <p:sp>
          <p:nvSpPr>
            <p:cNvPr name="Freeform 25" id="25" descr="/home/claude/deck/fig1_pdr_throughput.png"/>
            <p:cNvSpPr/>
            <p:nvPr/>
          </p:nvSpPr>
          <p:spPr>
            <a:xfrm flipH="false" flipV="false" rot="0">
              <a:off x="0" y="0"/>
              <a:ext cx="10889869" cy="6087110"/>
            </a:xfrm>
            <a:custGeom>
              <a:avLst/>
              <a:gdLst/>
              <a:ahLst/>
              <a:cxnLst/>
              <a:rect r="r" b="b" t="t" l="l"/>
              <a:pathLst>
                <a:path h="6087110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6087110"/>
                  </a:lnTo>
                  <a:lnTo>
                    <a:pt x="0" y="6087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86333" y="9043340"/>
            <a:ext cx="8167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i="true">
                <a:solidFill>
                  <a:srgbClr val="5A718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1. PDR &amp; Throughput vs. Wireless Host Density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34176" y="4474912"/>
            <a:ext cx="8167402" cy="4565342"/>
            <a:chOff x="0" y="0"/>
            <a:chExt cx="10889869" cy="6087123"/>
          </a:xfrm>
        </p:grpSpPr>
        <p:sp>
          <p:nvSpPr>
            <p:cNvPr name="Freeform 28" id="28" descr="/home/claude/deck/fig2_cw_delay.png"/>
            <p:cNvSpPr/>
            <p:nvPr/>
          </p:nvSpPr>
          <p:spPr>
            <a:xfrm flipH="false" flipV="false" rot="0">
              <a:off x="0" y="0"/>
              <a:ext cx="10889869" cy="6087110"/>
            </a:xfrm>
            <a:custGeom>
              <a:avLst/>
              <a:gdLst/>
              <a:ahLst/>
              <a:cxnLst/>
              <a:rect r="r" b="b" t="t" l="l"/>
              <a:pathLst>
                <a:path h="6087110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6087110"/>
                  </a:lnTo>
                  <a:lnTo>
                    <a:pt x="0" y="6087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" r="0" b="-2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334176" y="9043340"/>
            <a:ext cx="816740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i="true">
                <a:solidFill>
                  <a:srgbClr val="5A718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2. Minimum Contention Window &amp; Delay vs. Host Density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583931" y="9631166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B2545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activity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Task 2 — Channel Interference &amp; SNIR Analysis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1634652"/>
            <a:ext cx="7988406" cy="8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Setup: 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Fixed N = 10 hosts (≈40 Mbps offered load); background noise swept so SNIR ranges from 30 dB down to 2 dB.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773" y="2644273"/>
            <a:ext cx="781096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134074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BERtotal = [ (BERhdr × Lhdr) + (BERdata × Ldata) ] / (Lhdr + Ldata)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808" y="3586867"/>
            <a:ext cx="7911932" cy="1885902"/>
            <a:chOff x="0" y="0"/>
            <a:chExt cx="10549242" cy="2514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9255" cy="2514473"/>
            </a:xfrm>
            <a:custGeom>
              <a:avLst/>
              <a:gdLst/>
              <a:ahLst/>
              <a:cxnLst/>
              <a:rect r="r" b="b" t="t" l="l"/>
              <a:pathLst>
                <a:path h="2514473" w="1054925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10382885" y="0"/>
                  </a:lnTo>
                  <a:cubicBezTo>
                    <a:pt x="10474833" y="0"/>
                    <a:pt x="10549255" y="74549"/>
                    <a:pt x="10549255" y="166370"/>
                  </a:cubicBezTo>
                  <a:lnTo>
                    <a:pt x="10549255" y="2348103"/>
                  </a:lnTo>
                  <a:cubicBezTo>
                    <a:pt x="10549255" y="2440051"/>
                    <a:pt x="10474706" y="2514473"/>
                    <a:pt x="10382885" y="2514473"/>
                  </a:cubicBezTo>
                  <a:lnTo>
                    <a:pt x="166370" y="2514473"/>
                  </a:lnTo>
                  <a:cubicBezTo>
                    <a:pt x="74422" y="2514473"/>
                    <a:pt x="0" y="2439924"/>
                    <a:pt x="0" y="234810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05961" y="3816029"/>
            <a:ext cx="686333" cy="686333"/>
            <a:chOff x="0" y="0"/>
            <a:chExt cx="915111" cy="915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0E838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8324" y="3898392"/>
            <a:ext cx="521618" cy="521618"/>
            <a:chOff x="0" y="0"/>
            <a:chExt cx="695490" cy="695490"/>
          </a:xfrm>
        </p:grpSpPr>
        <p:sp>
          <p:nvSpPr>
            <p:cNvPr name="Freeform 16" id="16" descr="/home/claude/deck/icon_check.png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0"/>
                  </a:moveTo>
                  <a:lnTo>
                    <a:pt x="695452" y="0"/>
                  </a:lnTo>
                  <a:lnTo>
                    <a:pt x="695452" y="695452"/>
                  </a:lnTo>
                  <a:lnTo>
                    <a:pt x="0" y="695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11931" y="3788578"/>
            <a:ext cx="6520196" cy="494162"/>
            <a:chOff x="0" y="0"/>
            <a:chExt cx="8693594" cy="6588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93592" cy="658877"/>
            </a:xfrm>
            <a:custGeom>
              <a:avLst/>
              <a:gdLst/>
              <a:ahLst/>
              <a:cxnLst/>
              <a:rect r="r" b="b" t="t" l="l"/>
              <a:pathLst>
                <a:path h="658877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095" r="0" b="-2070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93594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Optimal Region  (SNIR ≥ 15 dB)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11931" y="4282735"/>
            <a:ext cx="6520196" cy="1043231"/>
            <a:chOff x="0" y="0"/>
            <a:chExt cx="8693594" cy="13909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93592" cy="1390969"/>
            </a:xfrm>
            <a:custGeom>
              <a:avLst/>
              <a:gdLst/>
              <a:ahLst/>
              <a:cxnLst/>
              <a:rect r="r" b="b" t="t" l="l"/>
              <a:pathLst>
                <a:path h="1390969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1390969"/>
                  </a:lnTo>
                  <a:lnTo>
                    <a:pt x="0" y="13909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93594" cy="1467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Near-zero BER; 100% PDR; throughput maxed at 31.50 Mbps.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6808" y="5673328"/>
            <a:ext cx="7911932" cy="1885902"/>
            <a:chOff x="0" y="0"/>
            <a:chExt cx="10549242" cy="25145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9255" cy="2514473"/>
            </a:xfrm>
            <a:custGeom>
              <a:avLst/>
              <a:gdLst/>
              <a:ahLst/>
              <a:cxnLst/>
              <a:rect r="r" b="b" t="t" l="l"/>
              <a:pathLst>
                <a:path h="2514473" w="1054925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10382885" y="0"/>
                  </a:lnTo>
                  <a:cubicBezTo>
                    <a:pt x="10474833" y="0"/>
                    <a:pt x="10549255" y="74549"/>
                    <a:pt x="10549255" y="166370"/>
                  </a:cubicBezTo>
                  <a:lnTo>
                    <a:pt x="10549255" y="2348103"/>
                  </a:lnTo>
                  <a:cubicBezTo>
                    <a:pt x="10549255" y="2440051"/>
                    <a:pt x="10474706" y="2514473"/>
                    <a:pt x="10382885" y="2514473"/>
                  </a:cubicBezTo>
                  <a:lnTo>
                    <a:pt x="166370" y="2514473"/>
                  </a:lnTo>
                  <a:cubicBezTo>
                    <a:pt x="74422" y="2514473"/>
                    <a:pt x="0" y="2439924"/>
                    <a:pt x="0" y="234810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05961" y="5902490"/>
            <a:ext cx="686333" cy="686333"/>
            <a:chOff x="0" y="0"/>
            <a:chExt cx="915111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C77B1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8324" y="5984853"/>
            <a:ext cx="521618" cy="521618"/>
            <a:chOff x="0" y="0"/>
            <a:chExt cx="695490" cy="695490"/>
          </a:xfrm>
        </p:grpSpPr>
        <p:sp>
          <p:nvSpPr>
            <p:cNvPr name="Freeform 28" id="28" descr="/home/claude/deck/icon_alert.png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0"/>
                  </a:moveTo>
                  <a:lnTo>
                    <a:pt x="695452" y="0"/>
                  </a:lnTo>
                  <a:lnTo>
                    <a:pt x="695452" y="695452"/>
                  </a:lnTo>
                  <a:lnTo>
                    <a:pt x="0" y="695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811931" y="5875039"/>
            <a:ext cx="6520196" cy="494162"/>
            <a:chOff x="0" y="0"/>
            <a:chExt cx="8693594" cy="6588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93592" cy="658877"/>
            </a:xfrm>
            <a:custGeom>
              <a:avLst/>
              <a:gdLst/>
              <a:ahLst/>
              <a:cxnLst/>
              <a:rect r="r" b="b" t="t" l="l"/>
              <a:pathLst>
                <a:path h="658877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095" r="0" b="-2070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693594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 Degradation  (SNIR &lt; 15 dB)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11931" y="6369196"/>
            <a:ext cx="6520196" cy="1043231"/>
            <a:chOff x="0" y="0"/>
            <a:chExt cx="8693594" cy="13909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93592" cy="1390969"/>
            </a:xfrm>
            <a:custGeom>
              <a:avLst/>
              <a:gdLst/>
              <a:ahLst/>
              <a:cxnLst/>
              <a:rect r="r" b="b" t="t" l="l"/>
              <a:pathLst>
                <a:path h="1390969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1390969"/>
                  </a:lnTo>
                  <a:lnTo>
                    <a:pt x="0" y="13909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8693594" cy="1467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 per-bit error rises are amplified exponentially; frame success crosses the 50% PDR threshold.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76808" y="7759789"/>
            <a:ext cx="7911932" cy="1885902"/>
            <a:chOff x="0" y="0"/>
            <a:chExt cx="10549242" cy="25145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49255" cy="2514473"/>
            </a:xfrm>
            <a:custGeom>
              <a:avLst/>
              <a:gdLst/>
              <a:ahLst/>
              <a:cxnLst/>
              <a:rect r="r" b="b" t="t" l="l"/>
              <a:pathLst>
                <a:path h="2514473" w="1054925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10382885" y="0"/>
                  </a:lnTo>
                  <a:cubicBezTo>
                    <a:pt x="10474833" y="0"/>
                    <a:pt x="10549255" y="74549"/>
                    <a:pt x="10549255" y="166370"/>
                  </a:cubicBezTo>
                  <a:lnTo>
                    <a:pt x="10549255" y="2348103"/>
                  </a:lnTo>
                  <a:cubicBezTo>
                    <a:pt x="10549255" y="2440051"/>
                    <a:pt x="10474706" y="2514473"/>
                    <a:pt x="10382885" y="2514473"/>
                  </a:cubicBezTo>
                  <a:lnTo>
                    <a:pt x="166370" y="2514473"/>
                  </a:lnTo>
                  <a:cubicBezTo>
                    <a:pt x="74422" y="2514473"/>
                    <a:pt x="0" y="2439924"/>
                    <a:pt x="0" y="234810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05961" y="7988951"/>
            <a:ext cx="686333" cy="686333"/>
            <a:chOff x="0" y="0"/>
            <a:chExt cx="915111" cy="915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B23A4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8324" y="8071314"/>
            <a:ext cx="521618" cy="521618"/>
            <a:chOff x="0" y="0"/>
            <a:chExt cx="695490" cy="695490"/>
          </a:xfrm>
        </p:grpSpPr>
        <p:sp>
          <p:nvSpPr>
            <p:cNvPr name="Freeform 40" id="40" descr="/home/claude/deck/icon_xcircle.png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0"/>
                  </a:moveTo>
                  <a:lnTo>
                    <a:pt x="695452" y="0"/>
                  </a:lnTo>
                  <a:lnTo>
                    <a:pt x="695452" y="695452"/>
                  </a:lnTo>
                  <a:lnTo>
                    <a:pt x="0" y="695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11931" y="7961500"/>
            <a:ext cx="6520196" cy="494162"/>
            <a:chOff x="0" y="0"/>
            <a:chExt cx="8693594" cy="6588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93592" cy="658877"/>
            </a:xfrm>
            <a:custGeom>
              <a:avLst/>
              <a:gdLst/>
              <a:ahLst/>
              <a:cxnLst/>
              <a:rect r="r" b="b" t="t" l="l"/>
              <a:pathLst>
                <a:path h="658877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095" r="0" b="-2070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693594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 Failure  (SNIR = 2 dB)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11931" y="8455666"/>
            <a:ext cx="6520196" cy="1043231"/>
            <a:chOff x="0" y="0"/>
            <a:chExt cx="8693594" cy="13909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693592" cy="1390969"/>
            </a:xfrm>
            <a:custGeom>
              <a:avLst/>
              <a:gdLst/>
              <a:ahLst/>
              <a:cxnLst/>
              <a:rect r="r" b="b" t="t" l="l"/>
              <a:pathLst>
                <a:path h="1390969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1390969"/>
                  </a:lnTo>
                  <a:lnTo>
                    <a:pt x="0" y="13909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8693594" cy="1467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5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FCS failures dominate; PDR = 0.00%; delay hits the 500 ms retry ceiling.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91000" y="1757020"/>
            <a:ext cx="8620382" cy="4815859"/>
            <a:chOff x="0" y="0"/>
            <a:chExt cx="11493843" cy="6421145"/>
          </a:xfrm>
        </p:grpSpPr>
        <p:sp>
          <p:nvSpPr>
            <p:cNvPr name="Freeform 48" id="48" descr="/home/claude/deck/fig3_task2_snir_ber_pdr_fixed.png"/>
            <p:cNvSpPr/>
            <p:nvPr/>
          </p:nvSpPr>
          <p:spPr>
            <a:xfrm flipH="false" flipV="false" rot="0">
              <a:off x="0" y="0"/>
              <a:ext cx="11493881" cy="6421120"/>
            </a:xfrm>
            <a:custGeom>
              <a:avLst/>
              <a:gdLst/>
              <a:ahLst/>
              <a:cxnLst/>
              <a:rect r="r" b="b" t="t" l="l"/>
              <a:pathLst>
                <a:path h="6421120" w="11493881">
                  <a:moveTo>
                    <a:pt x="0" y="0"/>
                  </a:moveTo>
                  <a:lnTo>
                    <a:pt x="11493881" y="0"/>
                  </a:lnTo>
                  <a:lnTo>
                    <a:pt x="11493881" y="6421120"/>
                  </a:lnTo>
                  <a:lnTo>
                    <a:pt x="0" y="642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7" t="0" r="-27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991000" y="6671737"/>
            <a:ext cx="862038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i="true">
                <a:solidFill>
                  <a:srgbClr val="5A718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3. Impact of SNIR on Bit Error Rate and Packet Delivery Ratio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B2545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compare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Task 3 — Wired vs. Wireless Saturation Comparison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7773" y="1682277"/>
            <a:ext cx="1670099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Setup:  </a:t>
            </a:r>
            <a:r>
              <a:rPr lang="en-US" sz="2400">
                <a:solidFill>
                  <a:srgbClr val="132A3A"/>
                </a:solidFill>
                <a:latin typeface="Calibri (MS)"/>
                <a:ea typeface="Calibri (MS)"/>
                <a:cs typeface="Calibri (MS)"/>
                <a:sym typeface="Calibri (MS)"/>
              </a:rPr>
              <a:t>Equivalent 160 Mbps offered load targeting a 100 Mbps bottleneck link, at 90%, 100%, and 110% overload factors.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6336" y="2402177"/>
          <a:ext cx="8083515" cy="4538090"/>
        </p:xfrm>
        <a:graphic>
          <a:graphicData uri="http://schemas.openxmlformats.org/drawingml/2006/table">
            <a:tbl>
              <a:tblPr/>
              <a:tblGrid>
                <a:gridCol w="3417559"/>
                <a:gridCol w="2332978"/>
                <a:gridCol w="2332978"/>
              </a:tblGrid>
              <a:tr h="6204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Performance Characteristic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Wireless (802.11)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Wired (Ethernet)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9354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32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Media Access Control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32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CSMA/CA (Half-Duplex)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32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Switched Ethernet (Full-Duplex)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54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32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Collision Overhead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32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— wasted airtime on retries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32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Zero — isolated collision domains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822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32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Load PDR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B23A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42.10%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838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99.20%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2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32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Load Throughput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B23A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29.80 Mbps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838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95.10 Mbps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822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32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Load Delay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B23A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88.40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838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1.20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9265539" y="2402176"/>
            <a:ext cx="8373304" cy="3832174"/>
            <a:chOff x="0" y="0"/>
            <a:chExt cx="11164405" cy="5109566"/>
          </a:xfrm>
        </p:grpSpPr>
        <p:sp>
          <p:nvSpPr>
            <p:cNvPr name="Freeform 12" id="12" descr="/home/claude/deck/fig4_wired_vs_wireless.png"/>
            <p:cNvSpPr/>
            <p:nvPr/>
          </p:nvSpPr>
          <p:spPr>
            <a:xfrm flipH="false" flipV="false" rot="0">
              <a:off x="0" y="0"/>
              <a:ext cx="11164443" cy="5109591"/>
            </a:xfrm>
            <a:custGeom>
              <a:avLst/>
              <a:gdLst/>
              <a:ahLst/>
              <a:cxnLst/>
              <a:rect r="r" b="b" t="t" l="l"/>
              <a:pathLst>
                <a:path h="5109591" w="11164443">
                  <a:moveTo>
                    <a:pt x="0" y="0"/>
                  </a:moveTo>
                  <a:lnTo>
                    <a:pt x="11164443" y="0"/>
                  </a:lnTo>
                  <a:lnTo>
                    <a:pt x="11164443" y="5109591"/>
                  </a:lnTo>
                  <a:lnTo>
                    <a:pt x="0" y="510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" r="0" b="-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65539" y="6491526"/>
            <a:ext cx="837330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i="true">
                <a:solidFill>
                  <a:srgbClr val="5A718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4. PDR and Throughput: Wired vs. Wireless under Saturation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773" y="7625953"/>
            <a:ext cx="1670099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0B254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Wireless capacity is bounded well below the wired ceiling at every load factor tested — the gap widens further under 110% overload.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B2545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134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bar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Overall Statistical Summary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6333" y="1647206"/>
            <a:ext cx="16883872" cy="480435"/>
            <a:chOff x="0" y="0"/>
            <a:chExt cx="22511830" cy="6405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11827" cy="640586"/>
            </a:xfrm>
            <a:custGeom>
              <a:avLst/>
              <a:gdLst/>
              <a:ahLst/>
              <a:cxnLst/>
              <a:rect r="r" b="b" t="t" l="l"/>
              <a:pathLst>
                <a:path h="640586" w="22511827">
                  <a:moveTo>
                    <a:pt x="0" y="0"/>
                  </a:moveTo>
                  <a:lnTo>
                    <a:pt x="22511827" y="0"/>
                  </a:lnTo>
                  <a:lnTo>
                    <a:pt x="22511827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4755" r="0" b="-6347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511830" cy="67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0B254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Aggregated across all simulation runs in Tasks 1–3.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6808" y="2392642"/>
            <a:ext cx="4054726" cy="6207760"/>
            <a:chOff x="0" y="0"/>
            <a:chExt cx="5406301" cy="82770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06263" cy="8276998"/>
            </a:xfrm>
            <a:custGeom>
              <a:avLst/>
              <a:gdLst/>
              <a:ahLst/>
              <a:cxnLst/>
              <a:rect r="r" b="b" t="t" l="l"/>
              <a:pathLst>
                <a:path h="8276998" w="5406263">
                  <a:moveTo>
                    <a:pt x="0" y="212487"/>
                  </a:moveTo>
                  <a:cubicBezTo>
                    <a:pt x="0" y="95091"/>
                    <a:pt x="82296" y="0"/>
                    <a:pt x="183896" y="0"/>
                  </a:cubicBezTo>
                  <a:lnTo>
                    <a:pt x="5222367" y="0"/>
                  </a:lnTo>
                  <a:cubicBezTo>
                    <a:pt x="5323967" y="0"/>
                    <a:pt x="5406263" y="95091"/>
                    <a:pt x="5406263" y="212487"/>
                  </a:cubicBezTo>
                  <a:lnTo>
                    <a:pt x="5406263" y="8064512"/>
                  </a:lnTo>
                  <a:cubicBezTo>
                    <a:pt x="5406263" y="8181908"/>
                    <a:pt x="5323967" y="8276998"/>
                    <a:pt x="5222367" y="8276998"/>
                  </a:cubicBezTo>
                  <a:lnTo>
                    <a:pt x="183896" y="8276998"/>
                  </a:lnTo>
                  <a:cubicBezTo>
                    <a:pt x="82296" y="8276998"/>
                    <a:pt x="0" y="8181908"/>
                    <a:pt x="0" y="8064512"/>
                  </a:cubicBezTo>
                  <a:close/>
                </a:path>
              </a:pathLst>
            </a:custGeom>
            <a:solidFill>
              <a:srgbClr val="0B2545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60872" y="2637492"/>
            <a:ext cx="34865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33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235" y="3422152"/>
            <a:ext cx="3623853" cy="1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62.45%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872" y="4708265"/>
            <a:ext cx="3486588" cy="480268"/>
            <a:chOff x="0" y="0"/>
            <a:chExt cx="4648784" cy="6403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48784" cy="640350"/>
            </a:xfrm>
            <a:custGeom>
              <a:avLst/>
              <a:gdLst/>
              <a:ahLst/>
              <a:cxnLst/>
              <a:rect r="r" b="b" t="t" l="l"/>
              <a:pathLst>
                <a:path h="64035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640350"/>
                  </a:lnTo>
                  <a:lnTo>
                    <a:pt x="0" y="640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441" r="0" b="-814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48784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AFC3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18720">
            <a:off x="951309" y="5760463"/>
            <a:ext cx="3505705" cy="0"/>
          </a:xfrm>
          <a:prstGeom prst="line">
            <a:avLst/>
          </a:prstGeom>
          <a:ln cap="rnd" w="9525">
            <a:solidFill>
              <a:srgbClr val="2C4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60872" y="5902490"/>
            <a:ext cx="3486588" cy="417854"/>
            <a:chOff x="0" y="0"/>
            <a:chExt cx="4648784" cy="5571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48784" cy="557140"/>
            </a:xfrm>
            <a:custGeom>
              <a:avLst/>
              <a:gdLst/>
              <a:ahLst/>
              <a:cxnLst/>
              <a:rect r="r" b="b" t="t" l="l"/>
              <a:pathLst>
                <a:path h="55714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40"/>
                  </a:lnTo>
                  <a:lnTo>
                    <a:pt x="0" y="5571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520" r="0" b="-1036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33">
                  <a:solidFill>
                    <a:srgbClr val="8FA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872" y="6245657"/>
            <a:ext cx="3486588" cy="549069"/>
            <a:chOff x="0" y="0"/>
            <a:chExt cx="4648784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48784" cy="732092"/>
            </a:xfrm>
            <a:custGeom>
              <a:avLst/>
              <a:gdLst/>
              <a:ahLst/>
              <a:cxnLst/>
              <a:rect r="r" b="b" t="t" l="l"/>
              <a:pathLst>
                <a:path h="732092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729" r="0" b="-7372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4878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0.00% – 100.00%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872" y="6863363"/>
            <a:ext cx="3486588" cy="417854"/>
            <a:chOff x="0" y="0"/>
            <a:chExt cx="4648784" cy="5571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48784" cy="557134"/>
            </a:xfrm>
            <a:custGeom>
              <a:avLst/>
              <a:gdLst/>
              <a:ahLst/>
              <a:cxnLst/>
              <a:rect r="r" b="b" t="t" l="l"/>
              <a:pathLst>
                <a:path h="557134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34"/>
                  </a:lnTo>
                  <a:lnTo>
                    <a:pt x="0" y="55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449" r="0" b="-987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47">
                  <a:solidFill>
                    <a:srgbClr val="8FA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DRIVER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1335" y="7281216"/>
            <a:ext cx="3486588" cy="1243030"/>
            <a:chOff x="0" y="0"/>
            <a:chExt cx="4648784" cy="16573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48784" cy="1657378"/>
            </a:xfrm>
            <a:custGeom>
              <a:avLst/>
              <a:gdLst/>
              <a:ahLst/>
              <a:cxnLst/>
              <a:rect r="r" b="b" t="t" l="l"/>
              <a:pathLst>
                <a:path h="1657378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1657378"/>
                  </a:lnTo>
                  <a:lnTo>
                    <a:pt x="0" y="16573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63" r="0" b="221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648784" cy="1714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MAC collisions &amp; background noise corruption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14446" y="2392642"/>
            <a:ext cx="4054726" cy="6207760"/>
            <a:chOff x="0" y="0"/>
            <a:chExt cx="5406301" cy="82770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06263" cy="8276998"/>
            </a:xfrm>
            <a:custGeom>
              <a:avLst/>
              <a:gdLst/>
              <a:ahLst/>
              <a:cxnLst/>
              <a:rect r="r" b="b" t="t" l="l"/>
              <a:pathLst>
                <a:path h="8276998" w="5406263">
                  <a:moveTo>
                    <a:pt x="0" y="212487"/>
                  </a:moveTo>
                  <a:cubicBezTo>
                    <a:pt x="0" y="95091"/>
                    <a:pt x="82296" y="0"/>
                    <a:pt x="183896" y="0"/>
                  </a:cubicBezTo>
                  <a:lnTo>
                    <a:pt x="5222367" y="0"/>
                  </a:lnTo>
                  <a:cubicBezTo>
                    <a:pt x="5323967" y="0"/>
                    <a:pt x="5406263" y="95091"/>
                    <a:pt x="5406263" y="212487"/>
                  </a:cubicBezTo>
                  <a:lnTo>
                    <a:pt x="5406263" y="8064512"/>
                  </a:lnTo>
                  <a:cubicBezTo>
                    <a:pt x="5406263" y="8181908"/>
                    <a:pt x="5323967" y="8276998"/>
                    <a:pt x="5222367" y="8276998"/>
                  </a:cubicBezTo>
                  <a:lnTo>
                    <a:pt x="183896" y="8276998"/>
                  </a:lnTo>
                  <a:cubicBezTo>
                    <a:pt x="82296" y="8276998"/>
                    <a:pt x="0" y="8181908"/>
                    <a:pt x="0" y="806451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5298519" y="2637492"/>
            <a:ext cx="34865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33">
                <a:solidFill>
                  <a:srgbClr val="1340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THROUGHPUT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29882" y="3422152"/>
            <a:ext cx="3623853" cy="1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0B2545"/>
                </a:solidFill>
                <a:latin typeface="Cambria Bold"/>
                <a:ea typeface="Cambria Bold"/>
                <a:cs typeface="Cambria Bold"/>
                <a:sym typeface="Cambria Bold"/>
              </a:rPr>
              <a:t>32.10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298519" y="4708265"/>
            <a:ext cx="3486588" cy="480268"/>
            <a:chOff x="0" y="0"/>
            <a:chExt cx="4648784" cy="6403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48784" cy="640355"/>
            </a:xfrm>
            <a:custGeom>
              <a:avLst/>
              <a:gdLst/>
              <a:ahLst/>
              <a:cxnLst/>
              <a:rect r="r" b="b" t="t" l="l"/>
              <a:pathLst>
                <a:path h="640355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640355"/>
                  </a:lnTo>
                  <a:lnTo>
                    <a:pt x="0" y="640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83" r="0" b="-8432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648784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Mbps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298519" y="5120069"/>
            <a:ext cx="3486588" cy="480268"/>
            <a:chOff x="0" y="0"/>
            <a:chExt cx="4648784" cy="6403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48784" cy="640350"/>
            </a:xfrm>
            <a:custGeom>
              <a:avLst/>
              <a:gdLst/>
              <a:ahLst/>
              <a:cxnLst/>
              <a:rect r="r" b="b" t="t" l="l"/>
              <a:pathLst>
                <a:path h="64035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640350"/>
                  </a:lnTo>
                  <a:lnTo>
                    <a:pt x="0" y="640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441" r="0" b="-814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648784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71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18720">
            <a:off x="5288956" y="5760463"/>
            <a:ext cx="3505705" cy="0"/>
          </a:xfrm>
          <a:prstGeom prst="line">
            <a:avLst/>
          </a:prstGeom>
          <a:ln cap="rnd" w="9525">
            <a:solidFill>
              <a:srgbClr val="DCE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5298519" y="5902490"/>
            <a:ext cx="3486588" cy="417854"/>
            <a:chOff x="0" y="0"/>
            <a:chExt cx="4648784" cy="55713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648784" cy="557140"/>
            </a:xfrm>
            <a:custGeom>
              <a:avLst/>
              <a:gdLst/>
              <a:ahLst/>
              <a:cxnLst/>
              <a:rect r="r" b="b" t="t" l="l"/>
              <a:pathLst>
                <a:path h="55714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40"/>
                  </a:lnTo>
                  <a:lnTo>
                    <a:pt x="0" y="5571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520" r="0" b="-10364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33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298519" y="6245657"/>
            <a:ext cx="3486588" cy="549069"/>
            <a:chOff x="0" y="0"/>
            <a:chExt cx="4648784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48784" cy="732092"/>
            </a:xfrm>
            <a:custGeom>
              <a:avLst/>
              <a:gdLst/>
              <a:ahLst/>
              <a:cxnLst/>
              <a:rect r="r" b="b" t="t" l="l"/>
              <a:pathLst>
                <a:path h="732092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729" r="0" b="-7372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64878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0.00 – 95.40 Mbps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298519" y="6863363"/>
            <a:ext cx="3486588" cy="417854"/>
            <a:chOff x="0" y="0"/>
            <a:chExt cx="4648784" cy="55713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48784" cy="557134"/>
            </a:xfrm>
            <a:custGeom>
              <a:avLst/>
              <a:gdLst/>
              <a:ahLst/>
              <a:cxnLst/>
              <a:rect r="r" b="b" t="t" l="l"/>
              <a:pathLst>
                <a:path h="557134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34"/>
                  </a:lnTo>
                  <a:lnTo>
                    <a:pt x="0" y="55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449" r="0" b="-9872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47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DRIVER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288982" y="7281216"/>
            <a:ext cx="3486588" cy="862030"/>
            <a:chOff x="0" y="0"/>
            <a:chExt cx="4648784" cy="114937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48784" cy="1149377"/>
            </a:xfrm>
            <a:custGeom>
              <a:avLst/>
              <a:gdLst/>
              <a:ahLst/>
              <a:cxnLst/>
              <a:rect r="r" b="b" t="t" l="l"/>
              <a:pathLst>
                <a:path h="1149377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1149377"/>
                  </a:lnTo>
                  <a:lnTo>
                    <a:pt x="0" y="1149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69" r="0" b="-1224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4648784" cy="1206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 i="true">
                  <a:solidFill>
                    <a:srgbClr val="0B254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Physical link capacity &amp; CSMA overhead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52093" y="2392642"/>
            <a:ext cx="4054726" cy="6207760"/>
            <a:chOff x="0" y="0"/>
            <a:chExt cx="5406301" cy="827701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06263" cy="8276998"/>
            </a:xfrm>
            <a:custGeom>
              <a:avLst/>
              <a:gdLst/>
              <a:ahLst/>
              <a:cxnLst/>
              <a:rect r="r" b="b" t="t" l="l"/>
              <a:pathLst>
                <a:path h="8276998" w="5406263">
                  <a:moveTo>
                    <a:pt x="0" y="212487"/>
                  </a:moveTo>
                  <a:cubicBezTo>
                    <a:pt x="0" y="95091"/>
                    <a:pt x="82296" y="0"/>
                    <a:pt x="183896" y="0"/>
                  </a:cubicBezTo>
                  <a:lnTo>
                    <a:pt x="5222367" y="0"/>
                  </a:lnTo>
                  <a:cubicBezTo>
                    <a:pt x="5323967" y="0"/>
                    <a:pt x="5406263" y="95091"/>
                    <a:pt x="5406263" y="212487"/>
                  </a:cubicBezTo>
                  <a:lnTo>
                    <a:pt x="5406263" y="8064512"/>
                  </a:lnTo>
                  <a:cubicBezTo>
                    <a:pt x="5406263" y="8181908"/>
                    <a:pt x="5323967" y="8276998"/>
                    <a:pt x="5222367" y="8276998"/>
                  </a:cubicBezTo>
                  <a:lnTo>
                    <a:pt x="183896" y="8276998"/>
                  </a:lnTo>
                  <a:cubicBezTo>
                    <a:pt x="82296" y="8276998"/>
                    <a:pt x="0" y="8181908"/>
                    <a:pt x="0" y="806451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9636157" y="2637492"/>
            <a:ext cx="34865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33">
                <a:solidFill>
                  <a:srgbClr val="1340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END-TO-END DELAY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67529" y="3422152"/>
            <a:ext cx="3623853" cy="1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0B2545"/>
                </a:solidFill>
                <a:latin typeface="Cambria Bold"/>
                <a:ea typeface="Cambria Bold"/>
                <a:cs typeface="Cambria Bold"/>
                <a:sym typeface="Cambria Bold"/>
              </a:rPr>
              <a:t>185.30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636157" y="4708265"/>
            <a:ext cx="3486588" cy="480268"/>
            <a:chOff x="0" y="0"/>
            <a:chExt cx="4648784" cy="64035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48784" cy="640355"/>
            </a:xfrm>
            <a:custGeom>
              <a:avLst/>
              <a:gdLst/>
              <a:ahLst/>
              <a:cxnLst/>
              <a:rect r="r" b="b" t="t" l="l"/>
              <a:pathLst>
                <a:path h="640355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640355"/>
                  </a:lnTo>
                  <a:lnTo>
                    <a:pt x="0" y="640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83" r="0" b="-8432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648784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36157" y="5120069"/>
            <a:ext cx="3486588" cy="480268"/>
            <a:chOff x="0" y="0"/>
            <a:chExt cx="4648784" cy="64035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48784" cy="640350"/>
            </a:xfrm>
            <a:custGeom>
              <a:avLst/>
              <a:gdLst/>
              <a:ahLst/>
              <a:cxnLst/>
              <a:rect r="r" b="b" t="t" l="l"/>
              <a:pathLst>
                <a:path h="64035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640350"/>
                  </a:lnTo>
                  <a:lnTo>
                    <a:pt x="0" y="640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441" r="0" b="-814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648784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71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18720">
            <a:off x="9626603" y="5760463"/>
            <a:ext cx="3505705" cy="0"/>
          </a:xfrm>
          <a:prstGeom prst="line">
            <a:avLst/>
          </a:prstGeom>
          <a:ln cap="rnd" w="9525">
            <a:solidFill>
              <a:srgbClr val="DCE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9636157" y="5902490"/>
            <a:ext cx="3486588" cy="417854"/>
            <a:chOff x="0" y="0"/>
            <a:chExt cx="4648784" cy="5571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48784" cy="557140"/>
            </a:xfrm>
            <a:custGeom>
              <a:avLst/>
              <a:gdLst/>
              <a:ahLst/>
              <a:cxnLst/>
              <a:rect r="r" b="b" t="t" l="l"/>
              <a:pathLst>
                <a:path h="55714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40"/>
                  </a:lnTo>
                  <a:lnTo>
                    <a:pt x="0" y="5571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520" r="0" b="-10364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33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36157" y="6245657"/>
            <a:ext cx="3486588" cy="549069"/>
            <a:chOff x="0" y="0"/>
            <a:chExt cx="4648784" cy="7320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48784" cy="732092"/>
            </a:xfrm>
            <a:custGeom>
              <a:avLst/>
              <a:gdLst/>
              <a:ahLst/>
              <a:cxnLst/>
              <a:rect r="r" b="b" t="t" l="l"/>
              <a:pathLst>
                <a:path h="732092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729" r="0" b="-7372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64878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0.85 – 1420.50 ms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36157" y="6863363"/>
            <a:ext cx="3486588" cy="417854"/>
            <a:chOff x="0" y="0"/>
            <a:chExt cx="4648784" cy="55713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48784" cy="557134"/>
            </a:xfrm>
            <a:custGeom>
              <a:avLst/>
              <a:gdLst/>
              <a:ahLst/>
              <a:cxnLst/>
              <a:rect r="r" b="b" t="t" l="l"/>
              <a:pathLst>
                <a:path h="557134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34"/>
                  </a:lnTo>
                  <a:lnTo>
                    <a:pt x="0" y="55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449" r="0" b="-9872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47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DRIVER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26620" y="7281216"/>
            <a:ext cx="3486588" cy="862030"/>
            <a:chOff x="0" y="0"/>
            <a:chExt cx="4648784" cy="114937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648784" cy="1149377"/>
            </a:xfrm>
            <a:custGeom>
              <a:avLst/>
              <a:gdLst/>
              <a:ahLst/>
              <a:cxnLst/>
              <a:rect r="r" b="b" t="t" l="l"/>
              <a:pathLst>
                <a:path h="1149377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1149377"/>
                  </a:lnTo>
                  <a:lnTo>
                    <a:pt x="0" y="1149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69" r="0" b="-1224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4648784" cy="1206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 i="true">
                  <a:solidFill>
                    <a:srgbClr val="0B254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Retransmissions &amp; queue backoff accumulation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689740" y="2392642"/>
            <a:ext cx="4054726" cy="6207760"/>
            <a:chOff x="0" y="0"/>
            <a:chExt cx="5406301" cy="827701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06263" cy="8276998"/>
            </a:xfrm>
            <a:custGeom>
              <a:avLst/>
              <a:gdLst/>
              <a:ahLst/>
              <a:cxnLst/>
              <a:rect r="r" b="b" t="t" l="l"/>
              <a:pathLst>
                <a:path h="8276998" w="5406263">
                  <a:moveTo>
                    <a:pt x="0" y="212487"/>
                  </a:moveTo>
                  <a:cubicBezTo>
                    <a:pt x="0" y="95091"/>
                    <a:pt x="82296" y="0"/>
                    <a:pt x="183896" y="0"/>
                  </a:cubicBezTo>
                  <a:lnTo>
                    <a:pt x="5222367" y="0"/>
                  </a:lnTo>
                  <a:cubicBezTo>
                    <a:pt x="5323967" y="0"/>
                    <a:pt x="5406263" y="95091"/>
                    <a:pt x="5406263" y="212487"/>
                  </a:cubicBezTo>
                  <a:lnTo>
                    <a:pt x="5406263" y="8064512"/>
                  </a:lnTo>
                  <a:cubicBezTo>
                    <a:pt x="5406263" y="8181908"/>
                    <a:pt x="5323967" y="8276998"/>
                    <a:pt x="5222367" y="8276998"/>
                  </a:cubicBezTo>
                  <a:lnTo>
                    <a:pt x="183896" y="8276998"/>
                  </a:lnTo>
                  <a:cubicBezTo>
                    <a:pt x="82296" y="8276998"/>
                    <a:pt x="0" y="8181908"/>
                    <a:pt x="0" y="806451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AF4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3973804" y="2637492"/>
            <a:ext cx="34865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33">
                <a:solidFill>
                  <a:srgbClr val="1340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BIT ERROR RATE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905176" y="3422152"/>
            <a:ext cx="3623853" cy="1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0B2545"/>
                </a:solidFill>
                <a:latin typeface="Cambria Bold"/>
                <a:ea typeface="Cambria Bold"/>
                <a:cs typeface="Cambria Bold"/>
                <a:sym typeface="Cambria Bold"/>
              </a:rPr>
              <a:t>0.0834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3973804" y="4708265"/>
            <a:ext cx="3486588" cy="480268"/>
            <a:chOff x="0" y="0"/>
            <a:chExt cx="4648784" cy="64035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648784" cy="640350"/>
            </a:xfrm>
            <a:custGeom>
              <a:avLst/>
              <a:gdLst/>
              <a:ahLst/>
              <a:cxnLst/>
              <a:rect r="r" b="b" t="t" l="l"/>
              <a:pathLst>
                <a:path h="64035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640350"/>
                  </a:lnTo>
                  <a:lnTo>
                    <a:pt x="0" y="640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441" r="0" b="-8147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648784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A718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18720">
            <a:off x="13964250" y="5760463"/>
            <a:ext cx="3505705" cy="0"/>
          </a:xfrm>
          <a:prstGeom prst="line">
            <a:avLst/>
          </a:prstGeom>
          <a:ln cap="rnd" w="9525">
            <a:solidFill>
              <a:srgbClr val="DCEA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13973804" y="5902490"/>
            <a:ext cx="3486588" cy="417854"/>
            <a:chOff x="0" y="0"/>
            <a:chExt cx="4648784" cy="5571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48784" cy="557140"/>
            </a:xfrm>
            <a:custGeom>
              <a:avLst/>
              <a:gdLst/>
              <a:ahLst/>
              <a:cxnLst/>
              <a:rect r="r" b="b" t="t" l="l"/>
              <a:pathLst>
                <a:path h="557140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40"/>
                  </a:lnTo>
                  <a:lnTo>
                    <a:pt x="0" y="5571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520" r="0" b="-10364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33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973804" y="6245657"/>
            <a:ext cx="3486588" cy="549069"/>
            <a:chOff x="0" y="0"/>
            <a:chExt cx="4648784" cy="7320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48784" cy="732092"/>
            </a:xfrm>
            <a:custGeom>
              <a:avLst/>
              <a:gdLst/>
              <a:ahLst/>
              <a:cxnLst/>
              <a:rect r="r" b="b" t="t" l="l"/>
              <a:pathLst>
                <a:path h="732092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729" r="0" b="-7372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648784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3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0.0000 – 0.4821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973804" y="6863363"/>
            <a:ext cx="3486588" cy="417854"/>
            <a:chOff x="0" y="0"/>
            <a:chExt cx="4648784" cy="5571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48784" cy="557134"/>
            </a:xfrm>
            <a:custGeom>
              <a:avLst/>
              <a:gdLst/>
              <a:ahLst/>
              <a:cxnLst/>
              <a:rect r="r" b="b" t="t" l="l"/>
              <a:pathLst>
                <a:path h="557134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557134"/>
                  </a:lnTo>
                  <a:lnTo>
                    <a:pt x="0" y="55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449" r="0" b="-9872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648784" cy="604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47">
                  <a:solidFill>
                    <a:srgbClr val="5A71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DRIVER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964267" y="7281216"/>
            <a:ext cx="3486588" cy="862030"/>
            <a:chOff x="0" y="0"/>
            <a:chExt cx="4648784" cy="114937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648784" cy="1149377"/>
            </a:xfrm>
            <a:custGeom>
              <a:avLst/>
              <a:gdLst/>
              <a:ahLst/>
              <a:cxnLst/>
              <a:rect r="r" b="b" t="t" l="l"/>
              <a:pathLst>
                <a:path h="1149377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1149377"/>
                  </a:lnTo>
                  <a:lnTo>
                    <a:pt x="0" y="1149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69" r="0" b="-1224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4648784" cy="1206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400" i="true">
                  <a:solidFill>
                    <a:srgbClr val="0B254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Physical noise floor degradation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B2545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33" y="576520"/>
            <a:ext cx="754971" cy="754971"/>
            <a:chOff x="0" y="0"/>
            <a:chExt cx="1006627" cy="100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4479" y="674665"/>
            <a:ext cx="558679" cy="558679"/>
            <a:chOff x="0" y="0"/>
            <a:chExt cx="744906" cy="744906"/>
          </a:xfrm>
        </p:grpSpPr>
        <p:sp>
          <p:nvSpPr>
            <p:cNvPr name="Freeform 5" id="5" descr="/home/claude/deck/icon_wifi.png"/>
            <p:cNvSpPr/>
            <p:nvPr/>
          </p:nvSpPr>
          <p:spPr>
            <a:xfrm flipH="false" flipV="false" rot="0">
              <a:off x="0" y="0"/>
              <a:ext cx="744855" cy="744855"/>
            </a:xfrm>
            <a:custGeom>
              <a:avLst/>
              <a:gdLst/>
              <a:ahLst/>
              <a:cxnLst/>
              <a:rect r="r" b="b" t="t" l="l"/>
              <a:pathLst>
                <a:path h="744855" w="744855">
                  <a:moveTo>
                    <a:pt x="0" y="0"/>
                  </a:moveTo>
                  <a:lnTo>
                    <a:pt x="744855" y="0"/>
                  </a:lnTo>
                  <a:lnTo>
                    <a:pt x="744855" y="744855"/>
                  </a:lnTo>
                  <a:lnTo>
                    <a:pt x="0" y="74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7206" y="494167"/>
            <a:ext cx="15923000" cy="933421"/>
            <a:chOff x="0" y="0"/>
            <a:chExt cx="21230666" cy="12445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0667" cy="1244556"/>
            </a:xfrm>
            <a:custGeom>
              <a:avLst/>
              <a:gdLst/>
              <a:ahLst/>
              <a:cxnLst/>
              <a:rect r="r" b="b" t="t" l="l"/>
              <a:pathLst>
                <a:path h="1244556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2391" r="0" b="-2823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230666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Conclusions &amp; Recommendations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6333" y="2402176"/>
            <a:ext cx="16883872" cy="1990373"/>
            <a:chOff x="0" y="0"/>
            <a:chExt cx="22511830" cy="26538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11767" cy="2653792"/>
            </a:xfrm>
            <a:custGeom>
              <a:avLst/>
              <a:gdLst/>
              <a:ahLst/>
              <a:cxnLst/>
              <a:rect r="r" b="b" t="t" l="l"/>
              <a:pathLst>
                <a:path h="2653792" w="22511767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328760" y="0"/>
                  </a:lnTo>
                  <a:cubicBezTo>
                    <a:pt x="22429851" y="0"/>
                    <a:pt x="22511767" y="81915"/>
                    <a:pt x="22511767" y="183007"/>
                  </a:cubicBezTo>
                  <a:lnTo>
                    <a:pt x="22511767" y="2470785"/>
                  </a:lnTo>
                  <a:cubicBezTo>
                    <a:pt x="22511767" y="2571877"/>
                    <a:pt x="22429851" y="2653792"/>
                    <a:pt x="22328760" y="2653792"/>
                  </a:cubicBezTo>
                  <a:lnTo>
                    <a:pt x="183007" y="2653792"/>
                  </a:lnTo>
                  <a:cubicBezTo>
                    <a:pt x="81915" y="2653792"/>
                    <a:pt x="0" y="2571877"/>
                    <a:pt x="0" y="2470785"/>
                  </a:cubicBezTo>
                  <a:close/>
                </a:path>
              </a:pathLst>
            </a:custGeom>
            <a:solidFill>
              <a:srgbClr val="12315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0686" y="2916926"/>
            <a:ext cx="960872" cy="960872"/>
            <a:chOff x="0" y="0"/>
            <a:chExt cx="1281163" cy="1281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5597" y="3041837"/>
            <a:ext cx="711041" cy="711041"/>
            <a:chOff x="0" y="0"/>
            <a:chExt cx="948055" cy="948055"/>
          </a:xfrm>
        </p:grpSpPr>
        <p:sp>
          <p:nvSpPr>
            <p:cNvPr name="Freeform 14" id="14" descr="/home/claude/deck/icon_zap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39441" y="2731618"/>
            <a:ext cx="14550323" cy="576522"/>
            <a:chOff x="0" y="0"/>
            <a:chExt cx="19400431" cy="7686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00436" cy="768700"/>
            </a:xfrm>
            <a:custGeom>
              <a:avLst/>
              <a:gdLst/>
              <a:ahLst/>
              <a:cxnLst/>
              <a:rect r="r" b="b" t="t" l="l"/>
              <a:pathLst>
                <a:path h="768700" w="19400436">
                  <a:moveTo>
                    <a:pt x="0" y="0"/>
                  </a:moveTo>
                  <a:lnTo>
                    <a:pt x="19400436" y="0"/>
                  </a:lnTo>
                  <a:lnTo>
                    <a:pt x="1940043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63" r="0" b="-44176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400431" cy="835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Collision Mitigation in High Density  (N ≥ 8)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39441" y="3335598"/>
            <a:ext cx="14550323" cy="905964"/>
            <a:chOff x="0" y="0"/>
            <a:chExt cx="19400431" cy="1207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00436" cy="1207956"/>
            </a:xfrm>
            <a:custGeom>
              <a:avLst/>
              <a:gdLst/>
              <a:ahLst/>
              <a:cxnLst/>
              <a:rect r="r" b="b" t="t" l="l"/>
              <a:pathLst>
                <a:path h="1207956" w="19400436">
                  <a:moveTo>
                    <a:pt x="0" y="0"/>
                  </a:moveTo>
                  <a:lnTo>
                    <a:pt x="19400436" y="0"/>
                  </a:lnTo>
                  <a:lnTo>
                    <a:pt x="19400436" y="1207956"/>
                  </a:lnTo>
                  <a:lnTo>
                    <a:pt x="0" y="1207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2940" r="0" b="-2629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9400431" cy="129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C9D9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 RTS/CTS handshaking or increase the initial contention window (CWmin = 63) to prevent collision cascades.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6333" y="4694539"/>
            <a:ext cx="16883872" cy="1990373"/>
            <a:chOff x="0" y="0"/>
            <a:chExt cx="22511830" cy="2653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11767" cy="2653792"/>
            </a:xfrm>
            <a:custGeom>
              <a:avLst/>
              <a:gdLst/>
              <a:ahLst/>
              <a:cxnLst/>
              <a:rect r="r" b="b" t="t" l="l"/>
              <a:pathLst>
                <a:path h="2653792" w="22511767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328760" y="0"/>
                  </a:lnTo>
                  <a:cubicBezTo>
                    <a:pt x="22429851" y="0"/>
                    <a:pt x="22511767" y="81915"/>
                    <a:pt x="22511767" y="183007"/>
                  </a:cubicBezTo>
                  <a:lnTo>
                    <a:pt x="22511767" y="2470785"/>
                  </a:lnTo>
                  <a:cubicBezTo>
                    <a:pt x="22511767" y="2571877"/>
                    <a:pt x="22429851" y="2653792"/>
                    <a:pt x="22328760" y="2653792"/>
                  </a:cubicBezTo>
                  <a:lnTo>
                    <a:pt x="183007" y="2653792"/>
                  </a:lnTo>
                  <a:cubicBezTo>
                    <a:pt x="81915" y="2653792"/>
                    <a:pt x="0" y="2571877"/>
                    <a:pt x="0" y="2470785"/>
                  </a:cubicBezTo>
                  <a:close/>
                </a:path>
              </a:pathLst>
            </a:custGeom>
            <a:solidFill>
              <a:srgbClr val="12315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70686" y="5209289"/>
            <a:ext cx="960872" cy="960872"/>
            <a:chOff x="0" y="0"/>
            <a:chExt cx="1281163" cy="1281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95597" y="5334200"/>
            <a:ext cx="711041" cy="711041"/>
            <a:chOff x="0" y="0"/>
            <a:chExt cx="948055" cy="948055"/>
          </a:xfrm>
        </p:grpSpPr>
        <p:sp>
          <p:nvSpPr>
            <p:cNvPr name="Freeform 26" id="26" descr="/home/claude/deck/icon_sliders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539441" y="5023980"/>
            <a:ext cx="14550323" cy="576522"/>
            <a:chOff x="0" y="0"/>
            <a:chExt cx="19400431" cy="7686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00436" cy="768700"/>
            </a:xfrm>
            <a:custGeom>
              <a:avLst/>
              <a:gdLst/>
              <a:ahLst/>
              <a:cxnLst/>
              <a:rect r="r" b="b" t="t" l="l"/>
              <a:pathLst>
                <a:path h="768700" w="19400436">
                  <a:moveTo>
                    <a:pt x="0" y="0"/>
                  </a:moveTo>
                  <a:lnTo>
                    <a:pt x="19400436" y="0"/>
                  </a:lnTo>
                  <a:lnTo>
                    <a:pt x="1940043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63" r="0" b="-4417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9400431" cy="835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Link Adaptation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539441" y="5627961"/>
            <a:ext cx="14550323" cy="905964"/>
            <a:chOff x="0" y="0"/>
            <a:chExt cx="19400431" cy="12079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400436" cy="1207956"/>
            </a:xfrm>
            <a:custGeom>
              <a:avLst/>
              <a:gdLst/>
              <a:ahLst/>
              <a:cxnLst/>
              <a:rect r="r" b="b" t="t" l="l"/>
              <a:pathLst>
                <a:path h="1207956" w="19400436">
                  <a:moveTo>
                    <a:pt x="0" y="0"/>
                  </a:moveTo>
                  <a:lnTo>
                    <a:pt x="19400436" y="0"/>
                  </a:lnTo>
                  <a:lnTo>
                    <a:pt x="19400436" y="1207956"/>
                  </a:lnTo>
                  <a:lnTo>
                    <a:pt x="0" y="1207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2940" r="0" b="-2629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9400431" cy="129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C9D9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adaptive Modulation and Coding Schemes (MCS) to maintain link stability when SNIR drops below 15 dB.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6333" y="6986902"/>
            <a:ext cx="16883872" cy="1990373"/>
            <a:chOff x="0" y="0"/>
            <a:chExt cx="22511830" cy="26538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511767" cy="2653792"/>
            </a:xfrm>
            <a:custGeom>
              <a:avLst/>
              <a:gdLst/>
              <a:ahLst/>
              <a:cxnLst/>
              <a:rect r="r" b="b" t="t" l="l"/>
              <a:pathLst>
                <a:path h="2653792" w="22511767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328760" y="0"/>
                  </a:lnTo>
                  <a:cubicBezTo>
                    <a:pt x="22429851" y="0"/>
                    <a:pt x="22511767" y="81915"/>
                    <a:pt x="22511767" y="183007"/>
                  </a:cubicBezTo>
                  <a:lnTo>
                    <a:pt x="22511767" y="2470785"/>
                  </a:lnTo>
                  <a:cubicBezTo>
                    <a:pt x="22511767" y="2571877"/>
                    <a:pt x="22429851" y="2653792"/>
                    <a:pt x="22328760" y="2653792"/>
                  </a:cubicBezTo>
                  <a:lnTo>
                    <a:pt x="183007" y="2653792"/>
                  </a:lnTo>
                  <a:cubicBezTo>
                    <a:pt x="81915" y="2653792"/>
                    <a:pt x="0" y="2571877"/>
                    <a:pt x="0" y="2470785"/>
                  </a:cubicBezTo>
                  <a:close/>
                </a:path>
              </a:pathLst>
            </a:custGeom>
            <a:solidFill>
              <a:srgbClr val="12315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70686" y="7501652"/>
            <a:ext cx="960872" cy="960872"/>
            <a:chOff x="0" y="0"/>
            <a:chExt cx="1281163" cy="12811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95597" y="7626563"/>
            <a:ext cx="711041" cy="711041"/>
            <a:chOff x="0" y="0"/>
            <a:chExt cx="948055" cy="948055"/>
          </a:xfrm>
        </p:grpSpPr>
        <p:sp>
          <p:nvSpPr>
            <p:cNvPr name="Freeform 38" id="38" descr="/home/claude/deck/icon_map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539441" y="7316343"/>
            <a:ext cx="14550323" cy="576522"/>
            <a:chOff x="0" y="0"/>
            <a:chExt cx="19400431" cy="7686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400436" cy="768700"/>
            </a:xfrm>
            <a:custGeom>
              <a:avLst/>
              <a:gdLst/>
              <a:ahLst/>
              <a:cxnLst/>
              <a:rect r="r" b="b" t="t" l="l"/>
              <a:pathLst>
                <a:path h="768700" w="19400436">
                  <a:moveTo>
                    <a:pt x="0" y="0"/>
                  </a:moveTo>
                  <a:lnTo>
                    <a:pt x="19400436" y="0"/>
                  </a:lnTo>
                  <a:lnTo>
                    <a:pt x="1940043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63" r="0" b="-44176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9400431" cy="835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 Planning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539441" y="7920323"/>
            <a:ext cx="14550323" cy="905964"/>
            <a:chOff x="0" y="0"/>
            <a:chExt cx="19400431" cy="12079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400436" cy="1207956"/>
            </a:xfrm>
            <a:custGeom>
              <a:avLst/>
              <a:gdLst/>
              <a:ahLst/>
              <a:cxnLst/>
              <a:rect r="r" b="b" t="t" l="l"/>
              <a:pathLst>
                <a:path h="1207956" w="19400436">
                  <a:moveTo>
                    <a:pt x="0" y="0"/>
                  </a:moveTo>
                  <a:lnTo>
                    <a:pt x="19400436" y="0"/>
                  </a:lnTo>
                  <a:lnTo>
                    <a:pt x="19400436" y="1207956"/>
                  </a:lnTo>
                  <a:lnTo>
                    <a:pt x="0" y="1207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2940" r="0" b="-2629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19400431" cy="129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C9D9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multi-channel Access Point deployments and 802.11e EDCA traffic prioritization to eliminate half-duplex wireless bottlenecks.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6333" y="9828333"/>
            <a:ext cx="10981382" cy="384353"/>
            <a:chOff x="0" y="0"/>
            <a:chExt cx="14641843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41840" cy="512464"/>
            </a:xfrm>
            <a:custGeom>
              <a:avLst/>
              <a:gdLst/>
              <a:ahLst/>
              <a:cxnLst/>
              <a:rect r="r" b="b" t="t" l="l"/>
              <a:pathLst>
                <a:path h="512464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4" r="0" b="-50671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4641843" cy="5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8FA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4616 — Wireless Networks Lab, Assignment 1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2500" y="1622524"/>
            <a:ext cx="15923000" cy="7041952"/>
            <a:chOff x="0" y="0"/>
            <a:chExt cx="21230666" cy="9389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0667" cy="9389227"/>
            </a:xfrm>
            <a:custGeom>
              <a:avLst/>
              <a:gdLst/>
              <a:ahLst/>
              <a:cxnLst/>
              <a:rect r="r" b="b" t="t" l="l"/>
              <a:pathLst>
                <a:path h="938922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9389227"/>
                  </a:lnTo>
                  <a:lnTo>
                    <a:pt x="0" y="93892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431" r="0" b="49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230666" cy="9398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DAHVjHuuHzw</dc:identifier>
  <dcterms:modified xsi:type="dcterms:W3CDTF">2011-08-01T06:04:30Z</dcterms:modified>
  <cp:revision>1</cp:revision>
  <dc:title>CSE4616_Assignment1_Presentation_Template.pptx</dc:title>
</cp:coreProperties>
</file>