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icon_wifi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8138160" y="1005840"/>
            <a:ext cx="4206240" cy="42062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417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4616  •  WIRELESS NETWORKS LAB  •  ASSIGNMENT 1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87452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of Traffic Load and Network Parameters on
</a:t>
            </a:r>
            <a:pPr algn="l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IEEE 802.11 Wireless LAN Performance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58368" y="3794760"/>
            <a:ext cx="29260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4023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Rahatut Tahrim Mounota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4074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ID: 220041122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17220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OMNeT++ with INET Framework v4.5.4   |   seed-set = 220041122   |   sim-time-limit = 40 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3" name="Image 0" descr="/home/claude/deck/icon_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580" y="449428"/>
            <a:ext cx="372161" cy="37216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329184"/>
            <a:ext cx="10607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&amp; Evaluation Framework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7043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Objective:  </a:t>
            </a:r>
            <a:pPr algn="l"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IEEE 802.11 WLAN performance under varying host density, contention, channel interference, and medium architecture, using discrete-event simulation in OMNeT++/INET.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457200" y="2057400"/>
            <a:ext cx="1124712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AF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76656" y="2253996"/>
            <a:ext cx="566928" cy="566928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8" name="Image 1" descr="/home/claude/deck/icon_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357" y="2327697"/>
            <a:ext cx="419527" cy="41952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217627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MAC-Layer Saturation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508760" y="2532888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saturation driven by CSMA/CA exponential-backoff retransmissions as host density rises.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57200" y="3218688"/>
            <a:ext cx="1124712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AF4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76656" y="3415284"/>
            <a:ext cx="566928" cy="566928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13" name="Image 2" descr="/home/claude/deck/icon_activit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357" y="3488985"/>
            <a:ext cx="419527" cy="41952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333756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Channel Interference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508760" y="3694176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Physical-layer link degradation under variable background noise (SNIR vs. BER).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457200" y="4379976"/>
            <a:ext cx="1124712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AF4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76656" y="4576572"/>
            <a:ext cx="566928" cy="566928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18" name="Image 3" descr="/home/claude/deck/icon_compar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357" y="4650273"/>
            <a:ext cx="419527" cy="41952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508760" y="4498848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— Wired vs. Wireless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1508760" y="4855464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benchmarking of wired Ethernet and wireless 802.11 under identical saturation load.</a:t>
            </a:r>
            <a:endParaRPr lang="en-US" sz="1250" dirty="0"/>
          </a:p>
        </p:txBody>
      </p:sp>
      <p:sp>
        <p:nvSpPr>
          <p:cNvPr id="21" name="Text 15"/>
          <p:cNvSpPr txBox="1"/>
          <p:nvPr/>
        </p:nvSpPr>
        <p:spPr>
          <a:xfrm>
            <a:off x="457200" y="55961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METRICS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57200" y="5925312"/>
            <a:ext cx="658368" cy="329184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457200" y="5925312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PDR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1280160" y="5925312"/>
            <a:ext cx="1298448" cy="329184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1280160" y="592531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2743200" y="5925312"/>
            <a:ext cx="841248" cy="329184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2743200" y="5925312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CWmin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3749040" y="5925312"/>
            <a:ext cx="1847088" cy="329184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3749040" y="5925312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Delay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5760720" y="5925312"/>
            <a:ext cx="658368" cy="329184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5760720" y="5925312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</a:t>
            </a:r>
            <a:endParaRPr lang="en-US" sz="1150" dirty="0"/>
          </a:p>
        </p:txBody>
      </p:sp>
      <p:sp>
        <p:nvSpPr>
          <p:cNvPr id="32" name="Text 26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4616 — Wireless Networks Lab, Assignment 1</a:t>
            </a:r>
            <a:endParaRPr lang="en-US" sz="900" dirty="0"/>
          </a:p>
        </p:txBody>
      </p:sp>
      <p:sp>
        <p:nvSpPr>
          <p:cNvPr id="33" name="Text 27"/>
          <p:cNvSpPr txBox="1"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3" name="Image 0" descr="/home/claude/deck/icon_sh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580" y="449428"/>
            <a:ext cx="372161" cy="37216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329184"/>
            <a:ext cx="10607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Architecture &amp; Simulation Topology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1316736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" y="12344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Segment: </a:t>
            </a:r>
            <a:pPr algn="l"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stationary hosts in a 400 m × 400 m grid; RadioMedium background noise floor of –10 dBm; Ieee80211YansErrorModel.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02920" y="2249424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" y="2167128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 (ap): </a:t>
            </a:r>
            <a:pPr algn="l"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802.11 wireless frames directly onto the wired Ethernet segment.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2920" y="3182112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31520" y="3099816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Wired Segment: </a:t>
            </a:r>
            <a:pPr algn="l"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WiredHost nodes connected via full-duplex 100 Mbps Ethernet (Eth100M).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4114800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31520" y="4032504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Destination: </a:t>
            </a:r>
            <a:pPr algn="l"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Unidirectional UDP flow to wiredSinkNode, listening on UDP port 5000.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623560" y="1234440"/>
            <a:ext cx="608076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DCEAF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852160" y="1371600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TOPOLOGY — WiredAndWirelessHostsWithAP.ned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897880" y="1965960"/>
            <a:ext cx="1298448" cy="658368"/>
          </a:xfrm>
          <a:prstGeom prst="roundRect">
            <a:avLst>
              <a:gd name="adj" fmla="val 9722"/>
            </a:avLst>
          </a:prstGeom>
          <a:solidFill>
            <a:srgbClr val="134074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952744" y="20391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WirelessHost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952744" y="23134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[0..N-1]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7196328" y="194767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452360" y="1965960"/>
            <a:ext cx="1298448" cy="658368"/>
          </a:xfrm>
          <a:prstGeom prst="roundRect">
            <a:avLst>
              <a:gd name="adj" fmla="val 9722"/>
            </a:avLst>
          </a:prstGeom>
          <a:solidFill>
            <a:srgbClr val="0B2545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507224" y="20391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AccessPoint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7507224" y="23134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802.11↔Eth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8750808" y="194767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9006840" y="1965960"/>
            <a:ext cx="1298448" cy="658368"/>
          </a:xfrm>
          <a:prstGeom prst="roundRect">
            <a:avLst>
              <a:gd name="adj" fmla="val 9722"/>
            </a:avLst>
          </a:prstGeom>
          <a:solidFill>
            <a:srgbClr val="0B2545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9061704" y="20391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9061704" y="23134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10305288" y="194767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10561320" y="1965960"/>
            <a:ext cx="1389888" cy="658368"/>
          </a:xfrm>
          <a:prstGeom prst="roundRect">
            <a:avLst>
              <a:gd name="adj" fmla="val 9722"/>
            </a:avLst>
          </a:prstGeom>
          <a:solidFill>
            <a:srgbClr val="0E8388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10616184" y="20391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wiredSinkNode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10616184" y="23134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UdpSink:5000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5897880" y="3127248"/>
            <a:ext cx="1298448" cy="658368"/>
          </a:xfrm>
          <a:prstGeom prst="roundRect">
            <a:avLst>
              <a:gd name="adj" fmla="val 9722"/>
            </a:avLst>
          </a:prstGeom>
          <a:solidFill>
            <a:srgbClr val="5C7AA6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5952744" y="3200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WiredHost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5952744" y="3474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[0..M-1]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 flipV="1">
            <a:off x="6547104" y="1965960"/>
            <a:ext cx="0" cy="530352"/>
          </a:xfrm>
          <a:prstGeom prst="line">
            <a:avLst/>
          </a:prstGeom>
          <a:noFill/>
          <a:ln w="12700">
            <a:solidFill>
              <a:srgbClr val="5A7184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7242048" y="3108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direct to Router (Eth100M)</a:t>
            </a:r>
            <a:endParaRPr lang="en-US" sz="850" dirty="0"/>
          </a:p>
        </p:txBody>
      </p:sp>
      <p:sp>
        <p:nvSpPr>
          <p:cNvPr id="35" name="Text 32"/>
          <p:cNvSpPr txBox="1"/>
          <p:nvPr/>
        </p:nvSpPr>
        <p:spPr>
          <a:xfrm>
            <a:off x="5897880" y="4105656"/>
            <a:ext cx="5532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traffic converges on a single UDP sink, so wired and wireless segments are benchmarked under identical routing and traffic-generation conditions.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4616 — Wireless Networks Lab, Assignment 1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3" name="Image 0" descr="/home/claude/deck/icon_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580" y="449428"/>
            <a:ext cx="372161" cy="37216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329184"/>
            <a:ext cx="10607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1 — MAC Contention &amp; Network Saturation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1556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Offered Load:  </a:t>
            </a:r>
            <a:pPr algn="l" indent="0" marL="0">
              <a:buNone/>
            </a:pPr>
            <a:r>
              <a:rPr lang="en-US" sz="1300" i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Load (bps) = N × Packet Size (bits) / Send Interval (s)   —   8 Mbps per host at a 0.001 s interval.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572768"/>
            <a:ext cx="3630168" cy="1207008"/>
          </a:xfrm>
          <a:prstGeom prst="roundRect">
            <a:avLst>
              <a:gd name="adj" fmla="val 6061"/>
            </a:avLst>
          </a:prstGeom>
          <a:solidFill>
            <a:srgbClr val="EAF2F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03504" y="1682496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Load  (N = 2, 16 Mbps)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03504" y="1993392"/>
            <a:ext cx="3337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contention.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PDR reaches 92.30%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just 15.71 ms.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70248" y="1572768"/>
            <a:ext cx="3630168" cy="1207008"/>
          </a:xfrm>
          <a:prstGeom prst="roundRect">
            <a:avLst>
              <a:gd name="adj" fmla="val 6061"/>
            </a:avLst>
          </a:prstGeom>
          <a:solidFill>
            <a:srgbClr val="EAF2F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416552" y="1682496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Load  (N = 4–8)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416552" y="1993392"/>
            <a:ext cx="3337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nears physical limits.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peaks at N = 8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(31.50 Mbps) as PDR falls to 60.45%.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083296" y="1572768"/>
            <a:ext cx="3630168" cy="1207008"/>
          </a:xfrm>
          <a:prstGeom prst="roundRect">
            <a:avLst>
              <a:gd name="adj" fmla="val 6061"/>
            </a:avLst>
          </a:prstGeom>
          <a:solidFill>
            <a:srgbClr val="FCE9E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229600" y="1682496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Saturation Knee  (N ≥ 8)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8229600" y="1993392"/>
            <a:ext cx="3337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backoff doubling.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CWmin: 15→31→63→960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PDR collapses to 18.00%.</a:t>
            </a:r>
            <a:endParaRPr lang="en-US" sz="1150" dirty="0"/>
          </a:p>
        </p:txBody>
      </p:sp>
      <p:pic>
        <p:nvPicPr>
          <p:cNvPr id="15" name="Image 1" descr="/home/claude/deck/fig1_pdr_throughp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80944"/>
            <a:ext cx="5440680" cy="304118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57200" y="6049561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1. PDR &amp; Throughput vs. Wireless Host Density</a:t>
            </a:r>
            <a:endParaRPr lang="en-US" sz="1050" dirty="0"/>
          </a:p>
        </p:txBody>
      </p:sp>
      <p:pic>
        <p:nvPicPr>
          <p:cNvPr id="17" name="Image 2" descr="/home/claude/deck/fig2_cw_del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980944"/>
            <a:ext cx="5440680" cy="304118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217920" y="6049561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2. Minimum Contention Window &amp; Delay vs. Host Density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4616 — Wireless Networks Lab, Assignment 1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3" name="Image 0" descr="/home/claude/deck/icon_ac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580" y="449428"/>
            <a:ext cx="372161" cy="37216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329184"/>
            <a:ext cx="10607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2 — Channel Interference &amp; SNIR Analysis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15568"/>
            <a:ext cx="5257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N = 10 hosts (≈40 Mbps offered load); background noise swept so SNIR ranges from 30 dB down to 2 dB.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737360"/>
            <a:ext cx="5257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1340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BERtotal = [ (BERhdr × Lhdr) + (BERdata × Ldata) ] / (Lhdr + Ldata)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2395728"/>
            <a:ext cx="5257800" cy="1243584"/>
          </a:xfrm>
          <a:prstGeom prst="roundRect">
            <a:avLst>
              <a:gd name="adj" fmla="val 6618"/>
            </a:avLst>
          </a:prstGeom>
          <a:solidFill>
            <a:srgbClr val="FFFFFF"/>
          </a:solidFill>
          <a:ln w="12700">
            <a:solidFill>
              <a:srgbClr val="DCEAF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03504" y="2542032"/>
            <a:ext cx="457200" cy="457200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9" name="Image 1" descr="/home/claude/deck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96896"/>
            <a:ext cx="347472" cy="34747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07008" y="2523744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Region  (SNIR ≥ 15 dB)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207008" y="2852928"/>
            <a:ext cx="4343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BER; 100% PDR; throughput maxed at 31.50 Mbps.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3785616"/>
            <a:ext cx="5257800" cy="1243584"/>
          </a:xfrm>
          <a:prstGeom prst="roundRect">
            <a:avLst>
              <a:gd name="adj" fmla="val 6618"/>
            </a:avLst>
          </a:prstGeom>
          <a:solidFill>
            <a:srgbClr val="FFFFFF"/>
          </a:solidFill>
          <a:ln w="12700">
            <a:solidFill>
              <a:srgbClr val="DCEAF4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03504" y="3931920"/>
            <a:ext cx="457200" cy="457200"/>
          </a:xfrm>
          <a:prstGeom prst="ellipse">
            <a:avLst/>
          </a:prstGeom>
          <a:solidFill>
            <a:srgbClr val="C77B14"/>
          </a:solidFill>
          <a:ln/>
        </p:spPr>
      </p:sp>
      <p:pic>
        <p:nvPicPr>
          <p:cNvPr id="14" name="Image 2" descr="/home/claude/deck/icon_ale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986784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07008" y="3913632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Degradation  (SNIR &lt; 15 dB)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1207008" y="4242816"/>
            <a:ext cx="4343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per-bit error rises are amplified exponentially; frame success crosses the 50% PDR threshold.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57200" y="5175504"/>
            <a:ext cx="5257800" cy="1243584"/>
          </a:xfrm>
          <a:prstGeom prst="roundRect">
            <a:avLst>
              <a:gd name="adj" fmla="val 6618"/>
            </a:avLst>
          </a:prstGeom>
          <a:solidFill>
            <a:srgbClr val="FFFFFF"/>
          </a:solidFill>
          <a:ln w="12700">
            <a:solidFill>
              <a:srgbClr val="DCEAF4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03504" y="5321808"/>
            <a:ext cx="457200" cy="457200"/>
          </a:xfrm>
          <a:prstGeom prst="ellipse">
            <a:avLst/>
          </a:prstGeom>
          <a:solidFill>
            <a:srgbClr val="B23A48"/>
          </a:solidFill>
          <a:ln/>
        </p:spPr>
      </p:sp>
      <p:pic>
        <p:nvPicPr>
          <p:cNvPr id="19" name="Image 3" descr="/home/claude/deck/icon_x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5376672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207008" y="5303520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Failure  (SNIR = 2 dB)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1207008" y="5632704"/>
            <a:ext cx="4343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FCS failures dominate; PDR = 0.00%; delay hits the 500 ms retry ceiling.</a:t>
            </a:r>
            <a:endParaRPr lang="en-US" sz="1100" dirty="0"/>
          </a:p>
        </p:txBody>
      </p:sp>
      <p:pic>
        <p:nvPicPr>
          <p:cNvPr id="22" name="Image 4" descr="/home/claude/deck/fig3_task2_snir_ber_pdr_fix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0" y="1170432"/>
            <a:ext cx="5742432" cy="3208063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989320" y="4405927"/>
            <a:ext cx="5742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3. Impact of SNIR on Bit Error Rate and Packet Delivery Ratio</a:t>
            </a:r>
            <a:endParaRPr lang="en-US" sz="1050" dirty="0"/>
          </a:p>
        </p:txBody>
      </p:sp>
      <p:sp>
        <p:nvSpPr>
          <p:cNvPr id="24" name="Text 17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4616 — Wireless Networks Lab, Assignment 1</a:t>
            </a:r>
            <a:endParaRPr lang="en-US" sz="900" dirty="0"/>
          </a:p>
        </p:txBody>
      </p:sp>
      <p:sp>
        <p:nvSpPr>
          <p:cNvPr id="25" name="Text 18"/>
          <p:cNvSpPr txBox="1"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3" name="Image 0" descr="/home/claude/deck/icon_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580" y="449428"/>
            <a:ext cx="372161" cy="37216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329184"/>
            <a:ext cx="10607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3 — Wired vs. Wireless Saturation Comparison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1556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 </a:t>
            </a:r>
            <a:pPr algn="l" indent="0" marL="0">
              <a:buNone/>
            </a:pPr>
            <a:r>
              <a:rPr lang="en-US" sz="1300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160 Mbps offered load targeting a 100 Mbps bottleneck link, at 90%, 100%, and 110% overload factors.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53949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554480"/>
                <a:gridCol w="15544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Characteristic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Wireless (802.11)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Wired (Ethernet)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3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Access Control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3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CSMA/CA (Half-Duplex)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3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Switched Ethernet (Full-Duplex)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3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Collision Overhead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3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— wasted airtime on retries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3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— isolated collision domains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3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Load PDR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42.10%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83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99.20%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3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Load Throughput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29.80 Mbps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83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95.10 Mbps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3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Load Delay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88.40 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83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 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Image 1" descr="/home/claude/deck/fig4_wired_vs_wirele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00200"/>
            <a:ext cx="5577840" cy="2552787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172200" y="4180419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4. PDR and Throughput: Wired vs. Wireless under Saturation</a:t>
            </a:r>
            <a:endParaRPr lang="en-US" sz="1050" dirty="0"/>
          </a:p>
        </p:txBody>
      </p:sp>
      <p:sp>
        <p:nvSpPr>
          <p:cNvPr id="9" name="Text 4"/>
          <p:cNvSpPr txBox="1"/>
          <p:nvPr/>
        </p:nvSpPr>
        <p:spPr>
          <a:xfrm>
            <a:off x="457200" y="50749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capacity is bounded well below the wired ceiling at every load factor tested — the gap widens further under 110% overload.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4616 — Wireless Networks Lab, Assignment 1</a:t>
            </a:r>
            <a:endParaRPr lang="en-US" sz="900" dirty="0"/>
          </a:p>
        </p:txBody>
      </p:sp>
      <p:sp>
        <p:nvSpPr>
          <p:cNvPr id="11" name="Text 6"/>
          <p:cNvSpPr txBox="1"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3" name="Image 0" descr="/home/claude/deck/icon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580" y="449428"/>
            <a:ext cx="372161" cy="37216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329184"/>
            <a:ext cx="10607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Statistical Summary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0972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across all simulation runs in Tasks 1–3.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2688336" cy="3566160"/>
          </a:xfrm>
          <a:prstGeom prst="roundRect">
            <a:avLst>
              <a:gd name="adj" fmla="val 3401"/>
            </a:avLst>
          </a:prstGeom>
          <a:solidFill>
            <a:srgbClr val="0B2545"/>
          </a:solidFill>
          <a:ln w="12700">
            <a:solidFill>
              <a:srgbClr val="DCEAF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801368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PDR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286000"/>
            <a:ext cx="2414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62.45%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136392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3840480"/>
            <a:ext cx="2322576" cy="0"/>
          </a:xfrm>
          <a:prstGeom prst="line">
            <a:avLst/>
          </a:prstGeom>
          <a:noFill/>
          <a:ln w="12700">
            <a:solidFill>
              <a:srgbClr val="2C4A7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3931920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F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4160520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0.00% – 100.00%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4572000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F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DRIVER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4773168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collisions &amp; background noise corruption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346704" y="1600200"/>
            <a:ext cx="2688336" cy="3566160"/>
          </a:xfrm>
          <a:prstGeom prst="roundRect">
            <a:avLst>
              <a:gd name="adj" fmla="val 3401"/>
            </a:avLst>
          </a:prstGeom>
          <a:solidFill>
            <a:srgbClr val="FFFFFF"/>
          </a:solidFill>
          <a:ln w="12700">
            <a:solidFill>
              <a:srgbClr val="DCEAF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529584" y="1801368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3483864" y="2286000"/>
            <a:ext cx="2414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32.10</a:t>
            </a:r>
            <a:endParaRPr lang="en-US" sz="4000" dirty="0"/>
          </a:p>
        </p:txBody>
      </p:sp>
      <p:sp>
        <p:nvSpPr>
          <p:cNvPr id="18" name="Text 15"/>
          <p:cNvSpPr txBox="1"/>
          <p:nvPr/>
        </p:nvSpPr>
        <p:spPr>
          <a:xfrm>
            <a:off x="3529584" y="3136392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Mbps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3529584" y="3410712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529584" y="3840480"/>
            <a:ext cx="2322576" cy="0"/>
          </a:xfrm>
          <a:prstGeom prst="line">
            <a:avLst/>
          </a:prstGeom>
          <a:noFill/>
          <a:ln w="12700">
            <a:solidFill>
              <a:srgbClr val="DCEAF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529584" y="3931920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3529584" y="4160520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 – 95.40 Mbps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3529584" y="4572000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DRIVER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3529584" y="4773168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link capacity &amp; CSMA overhead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236208" y="1600200"/>
            <a:ext cx="2688336" cy="3566160"/>
          </a:xfrm>
          <a:prstGeom prst="roundRect">
            <a:avLst>
              <a:gd name="adj" fmla="val 3401"/>
            </a:avLst>
          </a:prstGeom>
          <a:solidFill>
            <a:srgbClr val="FFFFFF"/>
          </a:solidFill>
          <a:ln w="12700">
            <a:solidFill>
              <a:srgbClr val="DCEAF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19088" y="1801368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DELAY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6373368" y="2286000"/>
            <a:ext cx="2414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185.30</a:t>
            </a:r>
            <a:endParaRPr lang="en-US" sz="4000" dirty="0"/>
          </a:p>
        </p:txBody>
      </p:sp>
      <p:sp>
        <p:nvSpPr>
          <p:cNvPr id="28" name="Text 25"/>
          <p:cNvSpPr txBox="1"/>
          <p:nvPr/>
        </p:nvSpPr>
        <p:spPr>
          <a:xfrm>
            <a:off x="6419088" y="3136392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6419088" y="3410712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419088" y="3840480"/>
            <a:ext cx="2322576" cy="0"/>
          </a:xfrm>
          <a:prstGeom prst="line">
            <a:avLst/>
          </a:prstGeom>
          <a:noFill/>
          <a:ln w="12700">
            <a:solidFill>
              <a:srgbClr val="DCEAF4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419088" y="3931920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6419088" y="4160520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 – 1420.50 ms</a:t>
            </a:r>
            <a:endParaRPr lang="en-US" sz="1150" dirty="0"/>
          </a:p>
        </p:txBody>
      </p:sp>
      <p:sp>
        <p:nvSpPr>
          <p:cNvPr id="33" name="Text 30"/>
          <p:cNvSpPr txBox="1"/>
          <p:nvPr/>
        </p:nvSpPr>
        <p:spPr>
          <a:xfrm>
            <a:off x="6419088" y="4572000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DRIVER</a:t>
            </a:r>
            <a:endParaRPr lang="en-US" sz="850" dirty="0"/>
          </a:p>
        </p:txBody>
      </p:sp>
      <p:sp>
        <p:nvSpPr>
          <p:cNvPr id="34" name="Text 31"/>
          <p:cNvSpPr txBox="1"/>
          <p:nvPr/>
        </p:nvSpPr>
        <p:spPr>
          <a:xfrm>
            <a:off x="6419088" y="4773168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Retransmissions &amp; queue backoff accumulation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9125712" y="1600200"/>
            <a:ext cx="2688336" cy="3566160"/>
          </a:xfrm>
          <a:prstGeom prst="roundRect">
            <a:avLst>
              <a:gd name="adj" fmla="val 3401"/>
            </a:avLst>
          </a:prstGeom>
          <a:solidFill>
            <a:srgbClr val="FFFFFF"/>
          </a:solidFill>
          <a:ln w="12700">
            <a:solidFill>
              <a:srgbClr val="DCEAF4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308592" y="1801368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ERROR RATE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9262872" y="2286000"/>
            <a:ext cx="2414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0.0834</a:t>
            </a:r>
            <a:endParaRPr lang="en-US" sz="4000" dirty="0"/>
          </a:p>
        </p:txBody>
      </p:sp>
      <p:sp>
        <p:nvSpPr>
          <p:cNvPr id="38" name="Text 35"/>
          <p:cNvSpPr txBox="1"/>
          <p:nvPr/>
        </p:nvSpPr>
        <p:spPr>
          <a:xfrm>
            <a:off x="9308592" y="3136392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9308592" y="3840480"/>
            <a:ext cx="2322576" cy="0"/>
          </a:xfrm>
          <a:prstGeom prst="line">
            <a:avLst/>
          </a:prstGeom>
          <a:noFill/>
          <a:ln w="12700">
            <a:solidFill>
              <a:srgbClr val="DCEAF4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9308592" y="3931920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900" dirty="0"/>
          </a:p>
        </p:txBody>
      </p:sp>
      <p:sp>
        <p:nvSpPr>
          <p:cNvPr id="41" name="Text 38"/>
          <p:cNvSpPr txBox="1"/>
          <p:nvPr/>
        </p:nvSpPr>
        <p:spPr>
          <a:xfrm>
            <a:off x="9308592" y="4160520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0.0000 – 0.4821</a:t>
            </a:r>
            <a:endParaRPr lang="en-US" sz="1150" dirty="0"/>
          </a:p>
        </p:txBody>
      </p:sp>
      <p:sp>
        <p:nvSpPr>
          <p:cNvPr id="42" name="Text 39"/>
          <p:cNvSpPr txBox="1"/>
          <p:nvPr/>
        </p:nvSpPr>
        <p:spPr>
          <a:xfrm>
            <a:off x="9308592" y="4572000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DRIVER</a:t>
            </a:r>
            <a:endParaRPr lang="en-US" sz="850" dirty="0"/>
          </a:p>
        </p:txBody>
      </p:sp>
      <p:sp>
        <p:nvSpPr>
          <p:cNvPr id="43" name="Text 40"/>
          <p:cNvSpPr txBox="1"/>
          <p:nvPr/>
        </p:nvSpPr>
        <p:spPr>
          <a:xfrm>
            <a:off x="9308592" y="4773168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noise floor degradation</a:t>
            </a:r>
            <a:endParaRPr lang="en-US" sz="95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4616 — Wireless Networks Lab, Assignment 1</a:t>
            </a:r>
            <a:endParaRPr lang="en-US" sz="900" dirty="0"/>
          </a:p>
        </p:txBody>
      </p:sp>
      <p:sp>
        <p:nvSpPr>
          <p:cNvPr id="45" name="Text 42"/>
          <p:cNvSpPr txBox="1"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3" name="Image 0" descr="/home/claude/deck/icon_wif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580" y="449428"/>
            <a:ext cx="372161" cy="37216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329184"/>
            <a:ext cx="10607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Conclusions &amp; Recommendations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57200" y="1600200"/>
            <a:ext cx="11247120" cy="1325880"/>
          </a:xfrm>
          <a:prstGeom prst="roundRect">
            <a:avLst>
              <a:gd name="adj" fmla="val 6897"/>
            </a:avLst>
          </a:prstGeom>
          <a:solidFill>
            <a:srgbClr val="12315C"/>
          </a:solidFill>
          <a:ln/>
        </p:spPr>
      </p:sp>
      <p:sp>
        <p:nvSpPr>
          <p:cNvPr id="6" name="Shape 3"/>
          <p:cNvSpPr/>
          <p:nvPr/>
        </p:nvSpPr>
        <p:spPr>
          <a:xfrm>
            <a:off x="713232" y="1943100"/>
            <a:ext cx="640080" cy="64008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7" name="Image 1" descr="/home/claude/deck/icon_z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442" y="2026310"/>
            <a:ext cx="473659" cy="473659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91640" y="1819656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Mitigation in High Density  (N ≥ 8)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1691640" y="2221992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RTS/CTS handshaking or increase the initial contention window (CWmin = 63) to prevent collision cascades.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57200" y="3127248"/>
            <a:ext cx="11247120" cy="1325880"/>
          </a:xfrm>
          <a:prstGeom prst="roundRect">
            <a:avLst>
              <a:gd name="adj" fmla="val 6897"/>
            </a:avLst>
          </a:prstGeom>
          <a:solidFill>
            <a:srgbClr val="12315C"/>
          </a:solidFill>
          <a:ln/>
        </p:spPr>
      </p:sp>
      <p:sp>
        <p:nvSpPr>
          <p:cNvPr id="11" name="Shape 7"/>
          <p:cNvSpPr/>
          <p:nvPr/>
        </p:nvSpPr>
        <p:spPr>
          <a:xfrm>
            <a:off x="713232" y="3470148"/>
            <a:ext cx="640080" cy="64008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2" name="Image 2" descr="/home/claude/deck/icon_slid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442" y="3553358"/>
            <a:ext cx="473659" cy="473659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91640" y="3346704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Link Adaptation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691640" y="3749040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adaptive Modulation and Coding Schemes (MCS) to maintain link stability when SNIR drops below 15 dB.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457200" y="4654296"/>
            <a:ext cx="11247120" cy="1325880"/>
          </a:xfrm>
          <a:prstGeom prst="roundRect">
            <a:avLst>
              <a:gd name="adj" fmla="val 6897"/>
            </a:avLst>
          </a:prstGeom>
          <a:solidFill>
            <a:srgbClr val="12315C"/>
          </a:solidFill>
          <a:ln/>
        </p:spPr>
      </p:sp>
      <p:sp>
        <p:nvSpPr>
          <p:cNvPr id="16" name="Shape 11"/>
          <p:cNvSpPr/>
          <p:nvPr/>
        </p:nvSpPr>
        <p:spPr>
          <a:xfrm>
            <a:off x="713232" y="4997196"/>
            <a:ext cx="640080" cy="64008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7" name="Image 3" descr="/home/claude/deck/icon_m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42" y="5080406"/>
            <a:ext cx="473659" cy="473659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691640" y="4873752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Planning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1691640" y="5276088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multi-channel Access Point deployments and 802.11e EDCA traffic prioritization to eliminate half-duplex wireless bottlenecks.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4616 — Wireless Networks Lab, Assignment 1</a:t>
            </a:r>
            <a:endParaRPr lang="en-US" sz="900" dirty="0"/>
          </a:p>
        </p:txBody>
      </p:sp>
      <p:sp>
        <p:nvSpPr>
          <p:cNvPr id="21" name="Text 15"/>
          <p:cNvSpPr txBox="1"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2026-09-18T12:02:16Z</dcterms:created>
  <dcterms:modified xsi:type="dcterms:W3CDTF">2026-09-18T12:02:16Z</dcterms:modified>
</cp:coreProperties>
</file>